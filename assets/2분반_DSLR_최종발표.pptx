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notesMasterIdLst>
    <p:notesMasterId r:id="rId15"/>
  </p:notesMasterIdLst>
  <p:sldIdLst>
    <p:sldId id="286" r:id="rId2"/>
    <p:sldId id="343" r:id="rId3"/>
    <p:sldId id="327" r:id="rId4"/>
    <p:sldId id="329" r:id="rId5"/>
    <p:sldId id="344" r:id="rId6"/>
    <p:sldId id="347" r:id="rId7"/>
    <p:sldId id="345" r:id="rId8"/>
    <p:sldId id="354" r:id="rId9"/>
    <p:sldId id="353" r:id="rId10"/>
    <p:sldId id="351" r:id="rId11"/>
    <p:sldId id="352" r:id="rId12"/>
    <p:sldId id="356" r:id="rId13"/>
    <p:sldId id="311" r:id="rId14"/>
  </p:sldIdLst>
  <p:sldSz cx="18288000" cy="10287000"/>
  <p:notesSz cx="10287000" cy="18288000"/>
  <p:embeddedFontLst>
    <p:embeddedFont>
      <p:font typeface="넥슨Lv2고딕" panose="020B0600000101010101" charset="-127"/>
      <p:regular r:id="rId16"/>
    </p:embeddedFont>
    <p:embeddedFont>
      <p:font typeface="넥슨Lv2고딕 Bold" panose="020B0600000101010101" charset="-127"/>
      <p:bold r:id="rId17"/>
    </p:embeddedFont>
    <p:embeddedFont>
      <p:font typeface="넥슨Lv2고딕 Medium" panose="020B0600000101010101" charset="-127"/>
      <p:regular r:id="rId18"/>
    </p:embeddedFont>
    <p:embeddedFont>
      <p:font typeface="Calibri" panose="020F0502020204030204" pitchFamily="34" charset="0"/>
      <p:regular r:id="rId19"/>
      <p:bold r:id="rId20"/>
      <p:italic r:id="rId21"/>
      <p:boldItalic r:id="rId22"/>
    </p:embeddedFont>
    <p:embeddedFont>
      <p:font typeface="Consolas" panose="020B0609020204030204" pitchFamily="49" charset="0"/>
      <p:regular r:id="rId23"/>
      <p:bold r:id="rId24"/>
      <p:italic r:id="rId25"/>
      <p:boldItalic r:id="rId26"/>
    </p:embeddedFont>
    <p:embeddedFont>
      <p:font typeface="맑은 고딕" panose="020B0503020000020004" pitchFamily="50" charset="-127"/>
      <p:regular r:id="rId27"/>
      <p:bold r:id="rId28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808080"/>
    <a:srgbClr val="2A83ED"/>
    <a:srgbClr val="FC709D"/>
    <a:srgbClr val="F3F2F1"/>
    <a:srgbClr val="0000FF"/>
    <a:srgbClr val="FFC000"/>
    <a:srgbClr val="FF0000"/>
    <a:srgbClr val="1E1E1E"/>
    <a:srgbClr val="DCEAFC"/>
    <a:srgbClr val="B4004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스타일 없음, 표 눈금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9279" autoAdjust="0"/>
    <p:restoredTop sz="93099" autoAdjust="0"/>
  </p:normalViewPr>
  <p:slideViewPr>
    <p:cSldViewPr>
      <p:cViewPr varScale="1">
        <p:scale>
          <a:sx n="47" d="100"/>
          <a:sy n="47" d="100"/>
        </p:scale>
        <p:origin x="720" y="66"/>
      </p:cViewPr>
      <p:guideLst/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font" Target="fonts/font3.fntdata"/><Relationship Id="rId26" Type="http://schemas.openxmlformats.org/officeDocument/2006/relationships/font" Target="fonts/font11.fntdata"/><Relationship Id="rId3" Type="http://schemas.openxmlformats.org/officeDocument/2006/relationships/slide" Target="slides/slide2.xml"/><Relationship Id="rId21" Type="http://schemas.openxmlformats.org/officeDocument/2006/relationships/font" Target="fonts/font6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2.fntdata"/><Relationship Id="rId25" Type="http://schemas.openxmlformats.org/officeDocument/2006/relationships/font" Target="fonts/font10.fntdata"/><Relationship Id="rId2" Type="http://schemas.openxmlformats.org/officeDocument/2006/relationships/slide" Target="slides/slide1.xml"/><Relationship Id="rId16" Type="http://schemas.openxmlformats.org/officeDocument/2006/relationships/font" Target="fonts/font1.fntdata"/><Relationship Id="rId20" Type="http://schemas.openxmlformats.org/officeDocument/2006/relationships/font" Target="fonts/font5.fntdata"/><Relationship Id="rId29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9.fntdata"/><Relationship Id="rId32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23" Type="http://schemas.openxmlformats.org/officeDocument/2006/relationships/font" Target="fonts/font8.fntdata"/><Relationship Id="rId28" Type="http://schemas.openxmlformats.org/officeDocument/2006/relationships/font" Target="fonts/font13.fntdata"/><Relationship Id="rId10" Type="http://schemas.openxmlformats.org/officeDocument/2006/relationships/slide" Target="slides/slide9.xml"/><Relationship Id="rId19" Type="http://schemas.openxmlformats.org/officeDocument/2006/relationships/font" Target="fonts/font4.fntdata"/><Relationship Id="rId31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7.fntdata"/><Relationship Id="rId27" Type="http://schemas.openxmlformats.org/officeDocument/2006/relationships/font" Target="fonts/font12.fntdata"/><Relationship Id="rId30" Type="http://schemas.openxmlformats.org/officeDocument/2006/relationships/viewProps" Target="viewProps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.xlsx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with MAML</c:v>
                </c:pt>
              </c:strCache>
            </c:strRef>
          </c:tx>
          <c:spPr>
            <a:ln w="28575" cap="rnd">
              <a:solidFill>
                <a:schemeClr val="accent1"/>
              </a:solidFill>
              <a:round/>
            </a:ln>
            <a:effectLst/>
          </c:spPr>
          <c:marker>
            <c:symbol val="none"/>
          </c:marker>
          <c:cat>
            <c:numRef>
              <c:f>Sheet1!$A$2:$A$5</c:f>
              <c:numCache>
                <c:formatCode>General</c:formatCode>
                <c:ptCount val="4"/>
                <c:pt idx="0">
                  <c:v>4</c:v>
                </c:pt>
                <c:pt idx="1">
                  <c:v>20</c:v>
                </c:pt>
                <c:pt idx="2">
                  <c:v>40</c:v>
                </c:pt>
                <c:pt idx="3">
                  <c:v>60</c:v>
                </c:pt>
              </c:numCache>
            </c:numRef>
          </c:cat>
          <c:val>
            <c:numRef>
              <c:f>Sheet1!$B$2:$B$5</c:f>
              <c:numCache>
                <c:formatCode>General</c:formatCode>
                <c:ptCount val="4"/>
                <c:pt idx="0">
                  <c:v>5.94</c:v>
                </c:pt>
                <c:pt idx="1">
                  <c:v>3.46</c:v>
                </c:pt>
                <c:pt idx="2">
                  <c:v>2.67</c:v>
                </c:pt>
                <c:pt idx="3">
                  <c:v>2.38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6923-4F9B-9C97-A15FB3A061AF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without MAML</c:v>
                </c:pt>
              </c:strCache>
            </c:strRef>
          </c:tx>
          <c:spPr>
            <a:ln w="28575" cap="rnd">
              <a:solidFill>
                <a:schemeClr val="accent2"/>
              </a:solidFill>
              <a:round/>
            </a:ln>
            <a:effectLst/>
          </c:spPr>
          <c:marker>
            <c:symbol val="none"/>
          </c:marker>
          <c:cat>
            <c:numRef>
              <c:f>Sheet1!$A$2:$A$5</c:f>
              <c:numCache>
                <c:formatCode>General</c:formatCode>
                <c:ptCount val="4"/>
                <c:pt idx="0">
                  <c:v>4</c:v>
                </c:pt>
                <c:pt idx="1">
                  <c:v>20</c:v>
                </c:pt>
                <c:pt idx="2">
                  <c:v>40</c:v>
                </c:pt>
                <c:pt idx="3">
                  <c:v>60</c:v>
                </c:pt>
              </c:numCache>
            </c:numRef>
          </c:cat>
          <c:val>
            <c:numRef>
              <c:f>Sheet1!$C$2:$C$5</c:f>
              <c:numCache>
                <c:formatCode>General</c:formatCode>
                <c:ptCount val="4"/>
                <c:pt idx="0">
                  <c:v>7.85</c:v>
                </c:pt>
                <c:pt idx="1">
                  <c:v>6.39</c:v>
                </c:pt>
                <c:pt idx="2">
                  <c:v>4.2699999999999996</c:v>
                </c:pt>
                <c:pt idx="3">
                  <c:v>3.67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6923-4F9B-9C97-A15FB3A061AF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smooth val="0"/>
        <c:axId val="623861856"/>
        <c:axId val="623858248"/>
      </c:lineChart>
      <c:catAx>
        <c:axId val="623861856"/>
        <c:scaling>
          <c:orientation val="minMax"/>
        </c:scaling>
        <c:delete val="0"/>
        <c:axPos val="b"/>
        <c:title>
          <c:tx>
            <c:rich>
              <a:bodyPr rot="0" spcFirstLastPara="1" vertOverflow="ellipsis" vert="horz" wrap="square" anchor="ctr" anchorCtr="1"/>
              <a:lstStyle/>
              <a:p>
                <a:pPr>
                  <a:defRPr sz="1800" b="0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en-US" altLang="ko-KR" sz="1800" dirty="0"/>
                  <a:t>Epoch</a:t>
                </a:r>
                <a:endParaRPr lang="ko-KR" altLang="en-US" sz="1800" dirty="0"/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anchor="ctr" anchorCtr="1"/>
            <a:lstStyle/>
            <a:p>
              <a:pPr>
                <a:defRPr sz="1800" b="0" i="0" u="none" strike="noStrike" kern="1200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ko-KR"/>
            </a:p>
          </c:txPr>
        </c:title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4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ko-KR"/>
          </a:p>
        </c:txPr>
        <c:crossAx val="623858248"/>
        <c:crosses val="autoZero"/>
        <c:auto val="1"/>
        <c:lblAlgn val="ctr"/>
        <c:lblOffset val="100"/>
        <c:noMultiLvlLbl val="0"/>
      </c:catAx>
      <c:valAx>
        <c:axId val="623858248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title>
          <c:tx>
            <c:rich>
              <a:bodyPr rot="-5400000" spcFirstLastPara="1" vertOverflow="ellipsis" vert="horz" wrap="square" anchor="ctr" anchorCtr="1"/>
              <a:lstStyle/>
              <a:p>
                <a:pPr>
                  <a:defRPr sz="1800" b="0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en-US" altLang="ko-KR" sz="1800" dirty="0"/>
                  <a:t>Error</a:t>
                </a:r>
                <a:endParaRPr lang="ko-KR" altLang="en-US" sz="1800" dirty="0"/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-5400000" spcFirstLastPara="1" vertOverflow="ellipsis" vert="horz" wrap="square" anchor="ctr" anchorCtr="1"/>
            <a:lstStyle/>
            <a:p>
              <a:pPr>
                <a:defRPr sz="1800" b="0" i="0" u="none" strike="noStrike" kern="1200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ko-KR"/>
            </a:p>
          </c:txPr>
        </c:title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4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ko-KR"/>
          </a:p>
        </c:txPr>
        <c:crossAx val="623861856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layout>
        <c:manualLayout>
          <c:xMode val="edge"/>
          <c:yMode val="edge"/>
          <c:x val="0.65270198279670488"/>
          <c:y val="0.10658310087920625"/>
          <c:w val="0.31264455185676054"/>
          <c:h val="0.14070671939550158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8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ko-KR"/>
        </a:p>
      </c:txPr>
    </c:legend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/>
      </a:pPr>
      <a:endParaRPr lang="ko-KR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2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solidFill>
        <a:schemeClr val="phClr"/>
      </a:solidFill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4457700" cy="91757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5827713" y="0"/>
            <a:ext cx="4457700" cy="91757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4FDCDEC-89CA-4273-A9D2-57B3B0B3056C}" type="datetimeFigureOut">
              <a:rPr lang="ko-KR" altLang="en-US" smtClean="0"/>
              <a:t>2021-06-03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-342900" y="2286000"/>
            <a:ext cx="10972800" cy="61722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1028700" y="8801100"/>
            <a:ext cx="8229600" cy="72009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17372013"/>
            <a:ext cx="4457700" cy="9159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5827713" y="17372013"/>
            <a:ext cx="4457700" cy="9159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CB79FAE-B0B5-46B6-8903-BDA0E054686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7591842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CB79FAE-B0B5-46B6-8903-BDA0E054686A}" type="slidenum">
              <a:rPr lang="ko-KR" altLang="en-US" smtClean="0"/>
              <a:t>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24387127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/>
              <a:t>저희는 이런 연구를</a:t>
            </a:r>
            <a:r>
              <a:rPr lang="en-US" altLang="ko-KR" dirty="0"/>
              <a:t>~(</a:t>
            </a:r>
            <a:r>
              <a:rPr lang="ko-KR" altLang="en-US" dirty="0"/>
              <a:t>원래 영상에 </a:t>
            </a:r>
            <a:r>
              <a:rPr lang="ko-KR" altLang="en-US" dirty="0" err="1"/>
              <a:t>있는거랑</a:t>
            </a:r>
            <a:r>
              <a:rPr lang="ko-KR" altLang="en-US" dirty="0"/>
              <a:t> 이어지면 </a:t>
            </a:r>
            <a:r>
              <a:rPr lang="ko-KR" altLang="en-US" dirty="0" err="1"/>
              <a:t>될듯해요</a:t>
            </a:r>
            <a:r>
              <a:rPr lang="en-US" altLang="ko-KR" dirty="0"/>
              <a:t>!)</a:t>
            </a:r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CB79FAE-B0B5-46B6-8903-BDA0E054686A}" type="slidenum">
              <a:rPr lang="ko-KR" altLang="en-US" smtClean="0"/>
              <a:t>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2229467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/>
              <a:t>여러 카메라로 찍은 사진을 준비하고</a:t>
            </a: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CB79FAE-B0B5-46B6-8903-BDA0E054686A}" type="slidenum">
              <a:rPr lang="ko-KR" altLang="en-US" smtClean="0"/>
              <a:t>6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72552138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ko-KR" dirty="0"/>
              <a:t> </a:t>
            </a:r>
            <a:r>
              <a:rPr lang="ko-KR" altLang="en-US" dirty="0"/>
              <a:t>메타러닝 알고리즘을 구현해 학습</a:t>
            </a: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CB79FAE-B0B5-46B6-8903-BDA0E054686A}" type="slidenum">
              <a:rPr lang="ko-KR" altLang="en-US" smtClean="0"/>
              <a:t>7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8134202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ko-KR" dirty="0"/>
              <a:t> </a:t>
            </a:r>
            <a:r>
              <a:rPr lang="ko-KR" altLang="en-US" dirty="0"/>
              <a:t>최종 훈련 조건</a:t>
            </a: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CB79FAE-B0B5-46B6-8903-BDA0E054686A}" type="slidenum">
              <a:rPr lang="ko-KR" altLang="en-US" smtClean="0"/>
              <a:t>8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00610347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이전 연구</a:t>
            </a:r>
            <a:r>
              <a:rPr lang="en-US" altLang="ko-KR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ko-KR" alt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평균 </a:t>
            </a:r>
            <a:r>
              <a:rPr lang="en-US" altLang="ko-KR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1.97</a:t>
            </a:r>
          </a:p>
          <a:p>
            <a:r>
              <a:rPr lang="ko-KR" alt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우리 연구 평균 </a:t>
            </a:r>
            <a:r>
              <a:rPr lang="en-US" altLang="ko-KR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1.72</a:t>
            </a:r>
          </a:p>
          <a:p>
            <a:r>
              <a:rPr lang="ko-KR" alt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이전 연구에 비해 약 </a:t>
            </a:r>
            <a:r>
              <a:rPr lang="en-US" altLang="ko-KR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15% </a:t>
            </a:r>
            <a:r>
              <a:rPr lang="ko-KR" alt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향상된 성능을 보여줌</a:t>
            </a:r>
            <a:endParaRPr lang="en-US" altLang="ko-KR" b="0" dirty="0">
              <a:solidFill>
                <a:srgbClr val="D4D4D4"/>
              </a:solidFill>
              <a:effectLst/>
              <a:latin typeface="Consolas" panose="020B0609020204030204" pitchFamily="49" charset="0"/>
            </a:endParaRPr>
          </a:p>
          <a:p>
            <a:r>
              <a:rPr lang="en-US" altLang="ko-KR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ko-KR" alt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새로운 카메라를 만났을 때 </a:t>
            </a:r>
            <a:r>
              <a:rPr lang="en-US" altLang="ko-KR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15% </a:t>
            </a:r>
            <a:r>
              <a:rPr lang="ko-KR" alt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더 정확하게 예측한다</a:t>
            </a:r>
            <a:r>
              <a:rPr lang="en-US" altLang="ko-KR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)</a:t>
            </a: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CB79FAE-B0B5-46B6-8903-BDA0E054686A}" type="slidenum">
              <a:rPr lang="ko-KR" altLang="en-US" smtClean="0"/>
              <a:t>9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6704895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/>
              <a:t>메타러닝을 사용하지 않은 경우와 비교해봤을 때 </a:t>
            </a:r>
            <a:endParaRPr lang="en-US" altLang="ko-KR" dirty="0"/>
          </a:p>
          <a:p>
            <a:r>
              <a:rPr lang="ko-KR" altLang="en-US" dirty="0"/>
              <a:t>메타러닝을 사용한 경우 훨씬 성능이 좋음</a:t>
            </a: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CB79FAE-B0B5-46B6-8903-BDA0E054686A}" type="slidenum">
              <a:rPr lang="ko-KR" altLang="en-US" smtClean="0"/>
              <a:t>10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58975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/>
              <a:t>실제 결과물</a:t>
            </a: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CB79FAE-B0B5-46B6-8903-BDA0E054686A}" type="slidenum">
              <a:rPr lang="ko-KR" altLang="en-US" smtClean="0"/>
              <a:t>11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84934016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CB79FAE-B0B5-46B6-8903-BDA0E054686A}" type="slidenum">
              <a:rPr lang="ko-KR" altLang="en-US" smtClean="0"/>
              <a:t>12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9860394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166F1F-CE9B-4651-A6AA-CD717754106B}" type="datetimeFigureOut">
              <a:rPr lang="en-US" smtClean="0"/>
              <a:t>6/3/2021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393E5F-521B-4CAD-9D3A-AE923D912DCE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>
              <a:buChar char="•"/>
            </a:pPr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6116CE-C4A3-4A05-B2D7-7C2E9A889C0F}" type="datetimeFigureOut">
              <a:rPr lang="en-US" smtClean="0"/>
              <a:t>6/3/2021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393E5F-521B-4CAD-9D3A-AE923D912DCE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6116CE-C4A3-4A05-B2D7-7C2E9A889C0F}" type="datetimeFigureOut">
              <a:rPr lang="en-US" smtClean="0"/>
              <a:t>6/3/2021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393E5F-521B-4CAD-9D3A-AE923D912DCE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6116CE-C4A3-4A05-B2D7-7C2E9A889C0F}" type="datetimeFigureOut">
              <a:rPr lang="en-US" smtClean="0"/>
              <a:t>6/3/2021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393E5F-521B-4CAD-9D3A-AE923D912DCE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6116CE-C4A3-4A05-B2D7-7C2E9A889C0F}" type="datetimeFigureOut">
              <a:rPr lang="en-US" smtClean="0"/>
              <a:t>6/3/2021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393E5F-521B-4CAD-9D3A-AE923D912DCE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6116CE-C4A3-4A05-B2D7-7C2E9A889C0F}" type="datetimeFigureOut">
              <a:rPr lang="en-US" smtClean="0"/>
              <a:t>6/3/2021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393E5F-521B-4CAD-9D3A-AE923D912DCE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6116CE-C4A3-4A05-B2D7-7C2E9A889C0F}" type="datetimeFigureOut">
              <a:rPr lang="en-US" smtClean="0"/>
              <a:t>6/3/2021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393E5F-521B-4CAD-9D3A-AE923D912DCE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6116CE-C4A3-4A05-B2D7-7C2E9A889C0F}" type="datetimeFigureOut">
              <a:rPr lang="en-US" smtClean="0"/>
              <a:t>6/3/2021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393E5F-521B-4CAD-9D3A-AE923D912DCE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6116CE-C4A3-4A05-B2D7-7C2E9A889C0F}" type="datetimeFigureOut">
              <a:rPr lang="en-US" smtClean="0"/>
              <a:t>6/3/2021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393E5F-521B-4CAD-9D3A-AE923D912DCE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6116CE-C4A3-4A05-B2D7-7C2E9A889C0F}" type="datetimeFigureOut">
              <a:rPr lang="en-US" smtClean="0"/>
              <a:t>6/3/2021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393E5F-521B-4CAD-9D3A-AE923D912DCE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6116CE-C4A3-4A05-B2D7-7C2E9A889C0F}" type="datetimeFigureOut">
              <a:rPr lang="en-US" smtClean="0"/>
              <a:t>6/3/2021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393E5F-521B-4CAD-9D3A-AE923D912DCE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8166F1F-CE9B-4651-A6AA-CD717754106B}" type="datetimeFigureOut">
              <a:rPr lang="en-US" smtClean="0"/>
              <a:t>6/3/2021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7021451-1387-4CA6-816F-3879F97B5CBC}" type="slidenum">
              <a:rPr lang="en-US" smtClean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�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�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�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�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�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�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�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�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�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6.png"/><Relationship Id="rId4" Type="http://schemas.openxmlformats.org/officeDocument/2006/relationships/chart" Target="../charts/char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직사각형 14">
            <a:extLst>
              <a:ext uri="{FF2B5EF4-FFF2-40B4-BE49-F238E27FC236}">
                <a16:creationId xmlns:a16="http://schemas.microsoft.com/office/drawing/2014/main" id="{CAF55FD6-74C6-4F99-92B9-19342F13258E}"/>
              </a:ext>
            </a:extLst>
          </p:cNvPr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4E93F0">
              <a:alpha val="8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" name="Object 31">
            <a:extLst>
              <a:ext uri="{FF2B5EF4-FFF2-40B4-BE49-F238E27FC236}">
                <a16:creationId xmlns:a16="http://schemas.microsoft.com/office/drawing/2014/main" id="{FDBEA81A-2497-4A3D-9BD2-3B8C2376FF24}"/>
              </a:ext>
            </a:extLst>
          </p:cNvPr>
          <p:cNvSpPr txBox="1"/>
          <p:nvPr/>
        </p:nvSpPr>
        <p:spPr>
          <a:xfrm>
            <a:off x="1066800" y="2781300"/>
            <a:ext cx="16306800" cy="2514600"/>
          </a:xfrm>
          <a:prstGeom prst="rect">
            <a:avLst/>
          </a:prstGeom>
          <a:noFill/>
        </p:spPr>
        <p:txBody>
          <a:bodyPr wrap="square" rtlCol="0"/>
          <a:lstStyle/>
          <a:p>
            <a:pPr>
              <a:lnSpc>
                <a:spcPct val="130000"/>
              </a:lnSpc>
            </a:pPr>
            <a:r>
              <a:rPr lang="ko-KR" altLang="en-US" sz="4800" b="1" spc="100" dirty="0">
                <a:ln w="3175">
                  <a:solidFill>
                    <a:srgbClr val="0044D6">
                      <a:alpha val="0"/>
                    </a:srgbClr>
                  </a:solidFill>
                </a:ln>
                <a:solidFill>
                  <a:schemeClr val="bg1"/>
                </a:solidFill>
                <a:latin typeface="넥슨Lv2고딕 Medium" panose="00000600000000000000" pitchFamily="2" charset="-127"/>
                <a:ea typeface="넥슨Lv2고딕 Medium" panose="00000600000000000000" pitchFamily="2" charset="-127"/>
              </a:rPr>
              <a:t>색채 항상성</a:t>
            </a:r>
            <a:r>
              <a:rPr lang="en-US" altLang="ko-KR" sz="4800" b="1" spc="100" dirty="0">
                <a:ln w="3175">
                  <a:solidFill>
                    <a:srgbClr val="0044D6">
                      <a:alpha val="0"/>
                    </a:srgbClr>
                  </a:solidFill>
                </a:ln>
                <a:solidFill>
                  <a:schemeClr val="bg1"/>
                </a:solidFill>
                <a:latin typeface="넥슨Lv2고딕 Medium" panose="00000600000000000000" pitchFamily="2" charset="-127"/>
                <a:ea typeface="넥슨Lv2고딕 Medium" panose="00000600000000000000" pitchFamily="2" charset="-127"/>
              </a:rPr>
              <a:t>(Color</a:t>
            </a:r>
            <a:r>
              <a:rPr lang="ko-KR" altLang="en-US" sz="4800" b="1" spc="100" dirty="0">
                <a:ln w="3175">
                  <a:solidFill>
                    <a:srgbClr val="0044D6">
                      <a:alpha val="0"/>
                    </a:srgbClr>
                  </a:solidFill>
                </a:ln>
                <a:solidFill>
                  <a:schemeClr val="bg1"/>
                </a:solidFill>
                <a:latin typeface="넥슨Lv2고딕 Medium" panose="00000600000000000000" pitchFamily="2" charset="-127"/>
                <a:ea typeface="넥슨Lv2고딕 Medium" panose="00000600000000000000" pitchFamily="2" charset="-127"/>
              </a:rPr>
              <a:t> </a:t>
            </a:r>
            <a:r>
              <a:rPr lang="en-US" altLang="ko-KR" sz="4800" b="1" spc="100" dirty="0">
                <a:ln w="3175">
                  <a:solidFill>
                    <a:srgbClr val="0044D6">
                      <a:alpha val="0"/>
                    </a:srgbClr>
                  </a:solidFill>
                </a:ln>
                <a:solidFill>
                  <a:schemeClr val="bg1"/>
                </a:solidFill>
                <a:latin typeface="넥슨Lv2고딕 Medium" panose="00000600000000000000" pitchFamily="2" charset="-127"/>
                <a:ea typeface="넥슨Lv2고딕 Medium" panose="00000600000000000000" pitchFamily="2" charset="-127"/>
              </a:rPr>
              <a:t>Constancy)</a:t>
            </a:r>
            <a:r>
              <a:rPr lang="ko-KR" altLang="en-US" sz="4800" b="1" spc="100" dirty="0">
                <a:ln w="3175">
                  <a:solidFill>
                    <a:srgbClr val="0044D6">
                      <a:alpha val="0"/>
                    </a:srgbClr>
                  </a:solidFill>
                </a:ln>
                <a:solidFill>
                  <a:schemeClr val="bg1"/>
                </a:solidFill>
                <a:latin typeface="넥슨Lv2고딕 Medium" panose="00000600000000000000" pitchFamily="2" charset="-127"/>
                <a:ea typeface="넥슨Lv2고딕 Medium" panose="00000600000000000000" pitchFamily="2" charset="-127"/>
              </a:rPr>
              <a:t> 모델의 </a:t>
            </a:r>
            <a:endParaRPr lang="en-US" altLang="ko-KR" sz="4800" b="1" spc="100" dirty="0">
              <a:ln w="3175">
                <a:solidFill>
                  <a:srgbClr val="0044D6">
                    <a:alpha val="0"/>
                  </a:srgbClr>
                </a:solidFill>
              </a:ln>
              <a:solidFill>
                <a:schemeClr val="bg1"/>
              </a:solidFill>
              <a:latin typeface="넥슨Lv2고딕 Medium" panose="00000600000000000000" pitchFamily="2" charset="-127"/>
              <a:ea typeface="넥슨Lv2고딕 Medium" panose="00000600000000000000" pitchFamily="2" charset="-127"/>
            </a:endParaRPr>
          </a:p>
          <a:p>
            <a:pPr>
              <a:lnSpc>
                <a:spcPct val="130000"/>
              </a:lnSpc>
            </a:pPr>
            <a:r>
              <a:rPr lang="ko-KR" altLang="en-US" sz="4800" b="1" spc="100" dirty="0">
                <a:ln w="3175">
                  <a:solidFill>
                    <a:srgbClr val="0044D6">
                      <a:alpha val="0"/>
                    </a:srgbClr>
                  </a:solidFill>
                </a:ln>
                <a:solidFill>
                  <a:schemeClr val="bg1"/>
                </a:solidFill>
                <a:latin typeface="넥슨Lv2고딕 Medium" panose="00000600000000000000" pitchFamily="2" charset="-127"/>
                <a:ea typeface="넥슨Lv2고딕 Medium" panose="00000600000000000000" pitchFamily="2" charset="-127"/>
              </a:rPr>
              <a:t>카메라 간 변환 방법 연구</a:t>
            </a:r>
            <a:endParaRPr lang="en-US" altLang="ko-KR" sz="4800" b="1" spc="100" dirty="0">
              <a:ln w="3175">
                <a:solidFill>
                  <a:srgbClr val="0044D6">
                    <a:alpha val="0"/>
                  </a:srgbClr>
                </a:solidFill>
              </a:ln>
              <a:solidFill>
                <a:schemeClr val="bg1"/>
              </a:solidFill>
              <a:latin typeface="넥슨Lv2고딕 Medium" panose="00000600000000000000" pitchFamily="2" charset="-127"/>
              <a:ea typeface="넥슨Lv2고딕 Medium" panose="00000600000000000000" pitchFamily="2" charset="-127"/>
            </a:endParaRPr>
          </a:p>
          <a:p>
            <a:pPr>
              <a:lnSpc>
                <a:spcPct val="130000"/>
              </a:lnSpc>
            </a:pPr>
            <a:endParaRPr lang="en-US" altLang="ko-KR" sz="4800" spc="100" dirty="0">
              <a:ln w="3175">
                <a:solidFill>
                  <a:srgbClr val="0044D6">
                    <a:alpha val="0"/>
                  </a:srgbClr>
                </a:solidFill>
              </a:ln>
              <a:solidFill>
                <a:schemeClr val="bg1"/>
              </a:solidFill>
              <a:latin typeface="넥슨Lv2고딕 Medium" panose="00000600000000000000" pitchFamily="2" charset="-127"/>
              <a:ea typeface="넥슨Lv2고딕 Medium" panose="00000600000000000000" pitchFamily="2" charset="-127"/>
            </a:endParaRPr>
          </a:p>
          <a:p>
            <a:pPr>
              <a:lnSpc>
                <a:spcPct val="130000"/>
              </a:lnSpc>
            </a:pPr>
            <a:r>
              <a:rPr lang="en-US" altLang="ko-KR" sz="2600" spc="100" dirty="0">
                <a:ln w="3175">
                  <a:solidFill>
                    <a:srgbClr val="0044D6">
                      <a:alpha val="0"/>
                    </a:srgbClr>
                  </a:solidFill>
                </a:ln>
                <a:solidFill>
                  <a:schemeClr val="bg1"/>
                </a:solidFill>
                <a:latin typeface="넥슨Lv2고딕 Medium" panose="00000600000000000000" pitchFamily="2" charset="-127"/>
                <a:ea typeface="넥슨Lv2고딕 Medium" panose="00000600000000000000" pitchFamily="2" charset="-127"/>
              </a:rPr>
              <a:t>DSLR</a:t>
            </a:r>
            <a:r>
              <a:rPr lang="ko-KR" altLang="en-US" sz="2600" spc="100" dirty="0">
                <a:ln w="3175">
                  <a:solidFill>
                    <a:srgbClr val="0044D6">
                      <a:alpha val="0"/>
                    </a:srgbClr>
                  </a:solidFill>
                </a:ln>
                <a:solidFill>
                  <a:schemeClr val="bg1"/>
                </a:solidFill>
                <a:latin typeface="넥슨Lv2고딕 Medium" panose="00000600000000000000" pitchFamily="2" charset="-127"/>
                <a:ea typeface="넥슨Lv2고딕 Medium" panose="00000600000000000000" pitchFamily="2" charset="-127"/>
              </a:rPr>
              <a:t>팀 소프트웨어종합설계 최종발표</a:t>
            </a:r>
            <a:endParaRPr lang="en-US" altLang="ko-KR" sz="2600" spc="100" dirty="0">
              <a:ln w="3175">
                <a:solidFill>
                  <a:srgbClr val="0044D6">
                    <a:alpha val="0"/>
                  </a:srgbClr>
                </a:solidFill>
              </a:ln>
              <a:solidFill>
                <a:schemeClr val="bg1"/>
              </a:solidFill>
              <a:latin typeface="넥슨Lv2고딕 Medium" panose="00000600000000000000" pitchFamily="2" charset="-127"/>
              <a:ea typeface="넥슨Lv2고딕 Medium" panose="00000600000000000000" pitchFamily="2" charset="-127"/>
            </a:endParaRPr>
          </a:p>
          <a:p>
            <a:pPr>
              <a:lnSpc>
                <a:spcPct val="130000"/>
              </a:lnSpc>
            </a:pPr>
            <a:endParaRPr lang="en-US" altLang="ko-KR" sz="2600" spc="100" dirty="0">
              <a:ln w="3175">
                <a:solidFill>
                  <a:srgbClr val="0044D6">
                    <a:alpha val="0"/>
                  </a:srgbClr>
                </a:solidFill>
              </a:ln>
              <a:solidFill>
                <a:schemeClr val="bg1"/>
              </a:solidFill>
              <a:latin typeface="넥슨Lv2고딕 Medium" panose="00000600000000000000" pitchFamily="2" charset="-127"/>
              <a:ea typeface="넥슨Lv2고딕 Medium" panose="00000600000000000000" pitchFamily="2" charset="-127"/>
            </a:endParaRPr>
          </a:p>
          <a:p>
            <a:pPr>
              <a:lnSpc>
                <a:spcPct val="130000"/>
              </a:lnSpc>
            </a:pPr>
            <a:endParaRPr lang="en-US" altLang="ko-KR" sz="2600" spc="100" dirty="0">
              <a:ln w="3175">
                <a:solidFill>
                  <a:srgbClr val="0044D6">
                    <a:alpha val="0"/>
                  </a:srgbClr>
                </a:solidFill>
              </a:ln>
              <a:solidFill>
                <a:schemeClr val="bg1"/>
              </a:solidFill>
              <a:latin typeface="넥슨Lv2고딕 Medium" panose="00000600000000000000" pitchFamily="2" charset="-127"/>
              <a:ea typeface="넥슨Lv2고딕 Medium" panose="00000600000000000000" pitchFamily="2" charset="-127"/>
            </a:endParaRPr>
          </a:p>
          <a:p>
            <a:pPr>
              <a:lnSpc>
                <a:spcPct val="130000"/>
              </a:lnSpc>
            </a:pPr>
            <a:endParaRPr lang="en-US" altLang="ko-KR" sz="2600" spc="100" dirty="0">
              <a:ln w="3175">
                <a:solidFill>
                  <a:srgbClr val="0044D6">
                    <a:alpha val="0"/>
                  </a:srgbClr>
                </a:solidFill>
              </a:ln>
              <a:solidFill>
                <a:schemeClr val="bg1"/>
              </a:solidFill>
              <a:latin typeface="넥슨Lv2고딕 Medium" panose="00000600000000000000" pitchFamily="2" charset="-127"/>
              <a:ea typeface="넥슨Lv2고딕 Medium" panose="00000600000000000000" pitchFamily="2" charset="-127"/>
            </a:endParaRPr>
          </a:p>
          <a:p>
            <a:pPr>
              <a:lnSpc>
                <a:spcPct val="130000"/>
              </a:lnSpc>
            </a:pPr>
            <a:endParaRPr lang="en-US" altLang="ko-KR" sz="2600" spc="100" dirty="0">
              <a:ln w="3175">
                <a:solidFill>
                  <a:srgbClr val="0044D6">
                    <a:alpha val="0"/>
                  </a:srgbClr>
                </a:solidFill>
              </a:ln>
              <a:solidFill>
                <a:schemeClr val="bg1"/>
              </a:solidFill>
              <a:latin typeface="넥슨Lv2고딕 Medium" panose="00000600000000000000" pitchFamily="2" charset="-127"/>
              <a:ea typeface="넥슨Lv2고딕 Medium" panose="00000600000000000000" pitchFamily="2" charset="-127"/>
            </a:endParaRPr>
          </a:p>
          <a:p>
            <a:pPr algn="r">
              <a:lnSpc>
                <a:spcPct val="130000"/>
              </a:lnSpc>
            </a:pPr>
            <a:r>
              <a:rPr lang="ko-KR" altLang="en-US" sz="2600" spc="100" dirty="0">
                <a:ln w="3175">
                  <a:solidFill>
                    <a:srgbClr val="0044D6">
                      <a:alpha val="0"/>
                    </a:srgbClr>
                  </a:solidFill>
                </a:ln>
                <a:solidFill>
                  <a:schemeClr val="bg1"/>
                </a:solidFill>
                <a:latin typeface="넥슨Lv2고딕 Medium" panose="00000600000000000000" pitchFamily="2" charset="-127"/>
                <a:ea typeface="넥슨Lv2고딕 Medium" panose="00000600000000000000" pitchFamily="2" charset="-127"/>
              </a:rPr>
              <a:t>지도</a:t>
            </a:r>
            <a:r>
              <a:rPr lang="en-US" altLang="ko-KR" sz="2600" spc="100" dirty="0">
                <a:ln w="3175">
                  <a:solidFill>
                    <a:srgbClr val="0044D6">
                      <a:alpha val="0"/>
                    </a:srgbClr>
                  </a:solidFill>
                </a:ln>
                <a:solidFill>
                  <a:schemeClr val="bg1"/>
                </a:solidFill>
                <a:latin typeface="넥슨Lv2고딕 Medium" panose="00000600000000000000" pitchFamily="2" charset="-127"/>
                <a:ea typeface="넥슨Lv2고딕 Medium" panose="00000600000000000000" pitchFamily="2" charset="-127"/>
              </a:rPr>
              <a:t>: </a:t>
            </a:r>
            <a:r>
              <a:rPr lang="ko-KR" altLang="en-US" sz="2600" spc="100" dirty="0">
                <a:ln w="3175">
                  <a:solidFill>
                    <a:srgbClr val="0044D6">
                      <a:alpha val="0"/>
                    </a:srgbClr>
                  </a:solidFill>
                </a:ln>
                <a:solidFill>
                  <a:schemeClr val="bg1"/>
                </a:solidFill>
                <a:latin typeface="넥슨Lv2고딕 Medium" panose="00000600000000000000" pitchFamily="2" charset="-127"/>
                <a:ea typeface="넥슨Lv2고딕 Medium" panose="00000600000000000000" pitchFamily="2" charset="-127"/>
              </a:rPr>
              <a:t>김선주 교수님</a:t>
            </a:r>
            <a:endParaRPr lang="en-US" altLang="ko-KR" sz="2600" spc="100" dirty="0">
              <a:ln w="3175">
                <a:solidFill>
                  <a:srgbClr val="0044D6">
                    <a:alpha val="0"/>
                  </a:srgbClr>
                </a:solidFill>
              </a:ln>
              <a:solidFill>
                <a:schemeClr val="bg1"/>
              </a:solidFill>
              <a:latin typeface="넥슨Lv2고딕 Medium" panose="00000600000000000000" pitchFamily="2" charset="-127"/>
              <a:ea typeface="넥슨Lv2고딕 Medium" panose="00000600000000000000" pitchFamily="2" charset="-127"/>
            </a:endParaRPr>
          </a:p>
          <a:p>
            <a:pPr algn="r">
              <a:lnSpc>
                <a:spcPct val="130000"/>
              </a:lnSpc>
            </a:pPr>
            <a:r>
              <a:rPr lang="ko-KR" altLang="en-US" sz="2600" spc="100" dirty="0">
                <a:ln w="3175">
                  <a:solidFill>
                    <a:srgbClr val="0044D6">
                      <a:alpha val="0"/>
                    </a:srgbClr>
                  </a:solidFill>
                </a:ln>
                <a:solidFill>
                  <a:schemeClr val="bg1"/>
                </a:solidFill>
                <a:latin typeface="넥슨Lv2고딕 Medium" panose="00000600000000000000" pitchFamily="2" charset="-127"/>
                <a:ea typeface="넥슨Lv2고딕 Medium" panose="00000600000000000000" pitchFamily="2" charset="-127"/>
              </a:rPr>
              <a:t>팀원</a:t>
            </a:r>
            <a:r>
              <a:rPr lang="en-US" altLang="ko-KR" sz="2600" spc="100" dirty="0">
                <a:ln w="3175">
                  <a:solidFill>
                    <a:srgbClr val="0044D6">
                      <a:alpha val="0"/>
                    </a:srgbClr>
                  </a:solidFill>
                </a:ln>
                <a:solidFill>
                  <a:schemeClr val="bg1"/>
                </a:solidFill>
                <a:latin typeface="넥슨Lv2고딕 Medium" panose="00000600000000000000" pitchFamily="2" charset="-127"/>
                <a:ea typeface="넥슨Lv2고딕 Medium" panose="00000600000000000000" pitchFamily="2" charset="-127"/>
              </a:rPr>
              <a:t>: </a:t>
            </a:r>
            <a:r>
              <a:rPr lang="ko-KR" altLang="en-US" sz="2600" spc="100" dirty="0">
                <a:ln w="3175">
                  <a:solidFill>
                    <a:srgbClr val="0044D6">
                      <a:alpha val="0"/>
                    </a:srgbClr>
                  </a:solidFill>
                </a:ln>
                <a:solidFill>
                  <a:schemeClr val="bg1"/>
                </a:solidFill>
                <a:latin typeface="넥슨Lv2고딕 Medium" panose="00000600000000000000" pitchFamily="2" charset="-127"/>
                <a:ea typeface="넥슨Lv2고딕 Medium" panose="00000600000000000000" pitchFamily="2" charset="-127"/>
              </a:rPr>
              <a:t>이동우</a:t>
            </a:r>
            <a:r>
              <a:rPr lang="en-US" altLang="ko-KR" sz="2600" spc="100" dirty="0">
                <a:ln w="3175">
                  <a:solidFill>
                    <a:srgbClr val="0044D6">
                      <a:alpha val="0"/>
                    </a:srgbClr>
                  </a:solidFill>
                </a:ln>
                <a:solidFill>
                  <a:schemeClr val="bg1"/>
                </a:solidFill>
                <a:latin typeface="넥슨Lv2고딕 Medium" panose="00000600000000000000" pitchFamily="2" charset="-127"/>
                <a:ea typeface="넥슨Lv2고딕 Medium" panose="00000600000000000000" pitchFamily="2" charset="-127"/>
              </a:rPr>
              <a:t>, </a:t>
            </a:r>
            <a:r>
              <a:rPr lang="ko-KR" altLang="en-US" sz="2600" spc="100" dirty="0" err="1">
                <a:ln w="3175">
                  <a:solidFill>
                    <a:srgbClr val="0044D6">
                      <a:alpha val="0"/>
                    </a:srgbClr>
                  </a:solidFill>
                </a:ln>
                <a:solidFill>
                  <a:schemeClr val="bg1"/>
                </a:solidFill>
                <a:latin typeface="넥슨Lv2고딕 Medium" panose="00000600000000000000" pitchFamily="2" charset="-127"/>
                <a:ea typeface="넥슨Lv2고딕 Medium" panose="00000600000000000000" pitchFamily="2" charset="-127"/>
              </a:rPr>
              <a:t>기민주</a:t>
            </a:r>
            <a:r>
              <a:rPr lang="en-US" altLang="ko-KR" sz="2600" spc="100" dirty="0">
                <a:ln w="3175">
                  <a:solidFill>
                    <a:srgbClr val="0044D6">
                      <a:alpha val="0"/>
                    </a:srgbClr>
                  </a:solidFill>
                </a:ln>
                <a:solidFill>
                  <a:schemeClr val="bg1"/>
                </a:solidFill>
                <a:latin typeface="넥슨Lv2고딕 Medium" panose="00000600000000000000" pitchFamily="2" charset="-127"/>
                <a:ea typeface="넥슨Lv2고딕 Medium" panose="00000600000000000000" pitchFamily="2" charset="-127"/>
              </a:rPr>
              <a:t>, </a:t>
            </a:r>
            <a:r>
              <a:rPr lang="ko-KR" altLang="en-US" sz="2600" spc="100" dirty="0" err="1">
                <a:ln w="3175">
                  <a:solidFill>
                    <a:srgbClr val="0044D6">
                      <a:alpha val="0"/>
                    </a:srgbClr>
                  </a:solidFill>
                </a:ln>
                <a:solidFill>
                  <a:schemeClr val="bg1"/>
                </a:solidFill>
                <a:latin typeface="넥슨Lv2고딕 Medium" panose="00000600000000000000" pitchFamily="2" charset="-127"/>
                <a:ea typeface="넥슨Lv2고딕 Medium" panose="00000600000000000000" pitchFamily="2" charset="-127"/>
              </a:rPr>
              <a:t>김하율</a:t>
            </a:r>
            <a:endParaRPr lang="en-US" altLang="ko-KR" sz="1100" spc="100" dirty="0">
              <a:ln w="3175">
                <a:solidFill>
                  <a:srgbClr val="0044D6">
                    <a:alpha val="0"/>
                  </a:srgbClr>
                </a:solidFill>
              </a:ln>
              <a:solidFill>
                <a:schemeClr val="bg1"/>
              </a:solidFill>
              <a:latin typeface="넥슨Lv2고딕 Medium" panose="00000600000000000000" pitchFamily="2" charset="-127"/>
              <a:ea typeface="넥슨Lv2고딕 Medium" panose="00000600000000000000" pitchFamily="2" charset="-127"/>
            </a:endParaRPr>
          </a:p>
        </p:txBody>
      </p:sp>
      <p:grpSp>
        <p:nvGrpSpPr>
          <p:cNvPr id="12" name="그룹 1001">
            <a:extLst>
              <a:ext uri="{FF2B5EF4-FFF2-40B4-BE49-F238E27FC236}">
                <a16:creationId xmlns:a16="http://schemas.microsoft.com/office/drawing/2014/main" id="{FBFAD6C4-48D2-441B-9C04-62BCE2D59497}"/>
              </a:ext>
            </a:extLst>
          </p:cNvPr>
          <p:cNvGrpSpPr/>
          <p:nvPr/>
        </p:nvGrpSpPr>
        <p:grpSpPr>
          <a:xfrm>
            <a:off x="1204686" y="5408700"/>
            <a:ext cx="917569" cy="54000"/>
            <a:chOff x="1313068" y="2127719"/>
            <a:chExt cx="917569" cy="73247"/>
          </a:xfrm>
        </p:grpSpPr>
        <p:pic>
          <p:nvPicPr>
            <p:cNvPr id="13" name="Object 2">
              <a:extLst>
                <a:ext uri="{FF2B5EF4-FFF2-40B4-BE49-F238E27FC236}">
                  <a16:creationId xmlns:a16="http://schemas.microsoft.com/office/drawing/2014/main" id="{DB3D24FC-5A6D-4C14-91E8-CF1D9AE544E4}"/>
                </a:ext>
              </a:extLst>
            </p:cNvPr>
            <p:cNvPicPr>
              <a:picLocks noChangeAspect="1"/>
            </p:cNvPicPr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313068" y="2127719"/>
              <a:ext cx="917569" cy="73247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3474605442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eelOff"/>
      </p:transition>
    </mc:Choice>
    <mc:Fallback xmlns=""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" name="그룹 1001">
            <a:extLst>
              <a:ext uri="{FF2B5EF4-FFF2-40B4-BE49-F238E27FC236}">
                <a16:creationId xmlns:a16="http://schemas.microsoft.com/office/drawing/2014/main" id="{55CFA78B-DB81-400B-9995-9B2CE408C47A}"/>
              </a:ext>
            </a:extLst>
          </p:cNvPr>
          <p:cNvGrpSpPr/>
          <p:nvPr/>
        </p:nvGrpSpPr>
        <p:grpSpPr>
          <a:xfrm>
            <a:off x="777732" y="1641432"/>
            <a:ext cx="917523" cy="73244"/>
            <a:chOff x="1313068" y="2127719"/>
            <a:chExt cx="917569" cy="73247"/>
          </a:xfrm>
        </p:grpSpPr>
        <p:pic>
          <p:nvPicPr>
            <p:cNvPr id="17" name="Object 2">
              <a:extLst>
                <a:ext uri="{FF2B5EF4-FFF2-40B4-BE49-F238E27FC236}">
                  <a16:creationId xmlns:a16="http://schemas.microsoft.com/office/drawing/2014/main" id="{4286C98B-FE7D-4C87-BB68-11682AAF9A72}"/>
                </a:ext>
              </a:extLst>
            </p:cNvPr>
            <p:cNvPicPr>
              <a:picLocks noChangeAspect="1"/>
            </p:cNvPicPr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313068" y="2127719"/>
              <a:ext cx="917569" cy="73247"/>
            </a:xfrm>
            <a:prstGeom prst="rect">
              <a:avLst/>
            </a:prstGeom>
          </p:spPr>
        </p:pic>
      </p:grpSp>
      <p:sp>
        <p:nvSpPr>
          <p:cNvPr id="14" name="Object 31">
            <a:extLst>
              <a:ext uri="{FF2B5EF4-FFF2-40B4-BE49-F238E27FC236}">
                <a16:creationId xmlns:a16="http://schemas.microsoft.com/office/drawing/2014/main" id="{EBBA54AF-072B-4BA3-8A89-197ABB143051}"/>
              </a:ext>
            </a:extLst>
          </p:cNvPr>
          <p:cNvSpPr txBox="1"/>
          <p:nvPr/>
        </p:nvSpPr>
        <p:spPr>
          <a:xfrm>
            <a:off x="666785" y="574687"/>
            <a:ext cx="16681012" cy="671297"/>
          </a:xfrm>
          <a:prstGeom prst="rect">
            <a:avLst/>
          </a:prstGeom>
          <a:noFill/>
        </p:spPr>
        <p:txBody>
          <a:bodyPr wrap="square" rtlCol="0"/>
          <a:lstStyle/>
          <a:p>
            <a:pPr algn="just">
              <a:lnSpc>
                <a:spcPct val="130000"/>
              </a:lnSpc>
            </a:pPr>
            <a:r>
              <a:rPr lang="en-US" sz="3600" spc="101" dirty="0">
                <a:ln w="3175">
                  <a:solidFill>
                    <a:srgbClr val="0044D6">
                      <a:alpha val="0"/>
                    </a:srgbClr>
                  </a:solidFill>
                </a:ln>
                <a:solidFill>
                  <a:srgbClr val="1464E2"/>
                </a:solidFill>
                <a:latin typeface="넥슨Lv2고딕 Bold" panose="00000800000000000000" pitchFamily="2" charset="-127"/>
                <a:ea typeface="넥슨Lv2고딕 Bold" panose="00000800000000000000" pitchFamily="2" charset="-127"/>
              </a:rPr>
              <a:t>Camera Dependency – Same scene, different color</a:t>
            </a:r>
            <a:r>
              <a:rPr lang="ko-KR" altLang="en-US" sz="3600" spc="101" dirty="0">
                <a:ln w="3175">
                  <a:solidFill>
                    <a:srgbClr val="0044D6">
                      <a:alpha val="0"/>
                    </a:srgbClr>
                  </a:solidFill>
                </a:ln>
                <a:solidFill>
                  <a:srgbClr val="1464E2"/>
                </a:solidFill>
                <a:latin typeface="넥슨Lv2고딕 Bold" panose="00000800000000000000" pitchFamily="2" charset="-127"/>
                <a:ea typeface="넥슨Lv2고딕 Bold" panose="00000800000000000000" pitchFamily="2" charset="-127"/>
              </a:rPr>
              <a:t> </a:t>
            </a:r>
            <a:r>
              <a:rPr lang="en-US" altLang="ko-KR" sz="3600" spc="101" dirty="0">
                <a:ln w="3175">
                  <a:solidFill>
                    <a:srgbClr val="0044D6">
                      <a:alpha val="0"/>
                    </a:srgbClr>
                  </a:solidFill>
                </a:ln>
                <a:solidFill>
                  <a:srgbClr val="1464E2"/>
                </a:solidFill>
                <a:latin typeface="넥슨Lv2고딕 Bold" panose="00000800000000000000" pitchFamily="2" charset="-127"/>
                <a:ea typeface="넥슨Lv2고딕 Bold" panose="00000800000000000000" pitchFamily="2" charset="-127"/>
              </a:rPr>
              <a:t>in</a:t>
            </a:r>
            <a:r>
              <a:rPr lang="ko-KR" altLang="en-US" sz="3600" spc="101" dirty="0">
                <a:ln w="3175">
                  <a:solidFill>
                    <a:srgbClr val="0044D6">
                      <a:alpha val="0"/>
                    </a:srgbClr>
                  </a:solidFill>
                </a:ln>
                <a:solidFill>
                  <a:srgbClr val="1464E2"/>
                </a:solidFill>
                <a:latin typeface="넥슨Lv2고딕 Bold" panose="00000800000000000000" pitchFamily="2" charset="-127"/>
                <a:ea typeface="넥슨Lv2고딕 Bold" panose="00000800000000000000" pitchFamily="2" charset="-127"/>
              </a:rPr>
              <a:t> </a:t>
            </a:r>
            <a:r>
              <a:rPr lang="en-US" altLang="ko-KR" sz="3600" spc="101" dirty="0">
                <a:ln w="3175">
                  <a:solidFill>
                    <a:srgbClr val="0044D6">
                      <a:alpha val="0"/>
                    </a:srgbClr>
                  </a:solidFill>
                </a:ln>
                <a:solidFill>
                  <a:srgbClr val="1464E2"/>
                </a:solidFill>
                <a:latin typeface="넥슨Lv2고딕 Bold" panose="00000800000000000000" pitchFamily="2" charset="-127"/>
                <a:ea typeface="넥슨Lv2고딕 Bold" panose="00000800000000000000" pitchFamily="2" charset="-127"/>
              </a:rPr>
              <a:t>photograph</a:t>
            </a:r>
            <a:endParaRPr lang="en-US" sz="3600" spc="101" dirty="0">
              <a:ln w="3175">
                <a:solidFill>
                  <a:srgbClr val="0044D6">
                    <a:alpha val="0"/>
                  </a:srgbClr>
                </a:solidFill>
              </a:ln>
              <a:solidFill>
                <a:srgbClr val="1464E2"/>
              </a:solidFill>
              <a:latin typeface="넥슨Lv2고딕 Bold" panose="00000800000000000000" pitchFamily="2" charset="-127"/>
              <a:ea typeface="넥슨Lv2고딕 Bold" panose="00000800000000000000" pitchFamily="2" charset="-127"/>
            </a:endParaRPr>
          </a:p>
        </p:txBody>
      </p:sp>
      <p:sp>
        <p:nvSpPr>
          <p:cNvPr id="29" name="직사각형 28">
            <a:extLst>
              <a:ext uri="{FF2B5EF4-FFF2-40B4-BE49-F238E27FC236}">
                <a16:creationId xmlns:a16="http://schemas.microsoft.com/office/drawing/2014/main" id="{90C4EC85-A69B-4A32-BA42-B1AD770F2B8C}"/>
              </a:ext>
            </a:extLst>
          </p:cNvPr>
          <p:cNvSpPr/>
          <p:nvPr/>
        </p:nvSpPr>
        <p:spPr>
          <a:xfrm>
            <a:off x="467" y="9494778"/>
            <a:ext cx="18287066" cy="791959"/>
          </a:xfrm>
          <a:prstGeom prst="rect">
            <a:avLst/>
          </a:prstGeom>
          <a:solidFill>
            <a:srgbClr val="4E93F0">
              <a:alpha val="2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360"/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4B8C191B-F19A-4D64-8FCD-9251AA4A52CD}"/>
              </a:ext>
            </a:extLst>
          </p:cNvPr>
          <p:cNvSpPr txBox="1"/>
          <p:nvPr/>
        </p:nvSpPr>
        <p:spPr>
          <a:xfrm>
            <a:off x="457644" y="9532897"/>
            <a:ext cx="17296517" cy="599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US" altLang="ko-KR" sz="2400" dirty="0">
                <a:ln w="3175">
                  <a:solidFill>
                    <a:schemeClr val="tx1">
                      <a:lumMod val="65000"/>
                      <a:lumOff val="35000"/>
                      <a:alpha val="20000"/>
                    </a:schemeClr>
                  </a:solidFill>
                </a:ln>
                <a:latin typeface="넥슨Lv2고딕" panose="00000500000000000000" pitchFamily="2" charset="-127"/>
                <a:ea typeface="넥슨Lv2고딕" panose="00000500000000000000" pitchFamily="2" charset="-127"/>
                <a:sym typeface="Wingdings" panose="05000000000000000000" pitchFamily="2" charset="2"/>
              </a:rPr>
              <a:t>Color Constancy</a:t>
            </a:r>
            <a:r>
              <a:rPr lang="ko-KR" altLang="en-US" sz="2400" dirty="0">
                <a:ln w="3175">
                  <a:solidFill>
                    <a:schemeClr val="tx1">
                      <a:lumMod val="65000"/>
                      <a:lumOff val="35000"/>
                      <a:alpha val="20000"/>
                    </a:schemeClr>
                  </a:solidFill>
                </a:ln>
                <a:latin typeface="넥슨Lv2고딕" panose="00000500000000000000" pitchFamily="2" charset="-127"/>
                <a:ea typeface="넥슨Lv2고딕" panose="00000500000000000000" pitchFamily="2" charset="-127"/>
                <a:sym typeface="Wingdings" panose="05000000000000000000" pitchFamily="2" charset="2"/>
              </a:rPr>
              <a:t> 모델은 학습 당시의 카메라에 의존적이라는 한계가 있음</a:t>
            </a:r>
            <a:endParaRPr lang="en-US" altLang="ko-KR" sz="2400" dirty="0">
              <a:ln w="3175">
                <a:solidFill>
                  <a:schemeClr val="tx1">
                    <a:lumMod val="65000"/>
                    <a:lumOff val="35000"/>
                    <a:alpha val="20000"/>
                  </a:schemeClr>
                </a:solidFill>
              </a:ln>
              <a:latin typeface="넥슨Lv2고딕" panose="00000500000000000000" pitchFamily="2" charset="-127"/>
              <a:ea typeface="넥슨Lv2고딕" panose="00000500000000000000" pitchFamily="2" charset="-127"/>
              <a:sym typeface="Wingdings" panose="05000000000000000000" pitchFamily="2" charset="2"/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F1F7560A-2A31-4B4A-A53D-4B5D1B4A87F6}"/>
              </a:ext>
            </a:extLst>
          </p:cNvPr>
          <p:cNvSpPr txBox="1"/>
          <p:nvPr/>
        </p:nvSpPr>
        <p:spPr>
          <a:xfrm>
            <a:off x="14551457" y="9097932"/>
            <a:ext cx="6021960" cy="3384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defRPr sz="2000">
                <a:ln w="3175">
                  <a:solidFill>
                    <a:schemeClr val="tx1">
                      <a:lumMod val="65000"/>
                      <a:lumOff val="35000"/>
                      <a:alpha val="20000"/>
                    </a:schemeClr>
                  </a:solidFill>
                </a:ln>
                <a:latin typeface="넥슨Lv2고딕" panose="00000500000000000000" pitchFamily="2" charset="-127"/>
                <a:ea typeface="넥슨Lv2고딕" panose="00000500000000000000" pitchFamily="2" charset="-127"/>
              </a:defRPr>
            </a:lvl1pPr>
          </a:lstStyle>
          <a:p>
            <a:r>
              <a:rPr lang="en-US" altLang="ko-KR" sz="1599" dirty="0">
                <a:ln w="3175">
                  <a:solidFill>
                    <a:schemeClr val="tx1">
                      <a:lumMod val="65000"/>
                      <a:lumOff val="35000"/>
                      <a:alpha val="0"/>
                    </a:schemeClr>
                  </a:solidFill>
                </a:ln>
                <a:solidFill>
                  <a:schemeClr val="bg1">
                    <a:lumMod val="65000"/>
                  </a:schemeClr>
                </a:solidFill>
              </a:rPr>
              <a:t>(Image source: leeesann.tistory.com)</a:t>
            </a:r>
            <a:endParaRPr lang="ko-KR" altLang="en-US" sz="1599" dirty="0">
              <a:ln w="3175">
                <a:solidFill>
                  <a:schemeClr val="tx1">
                    <a:lumMod val="65000"/>
                    <a:lumOff val="35000"/>
                    <a:alpha val="0"/>
                  </a:schemeClr>
                </a:solidFill>
              </a:ln>
              <a:solidFill>
                <a:schemeClr val="bg1">
                  <a:lumMod val="65000"/>
                </a:schemeClr>
              </a:solidFill>
            </a:endParaRPr>
          </a:p>
        </p:txBody>
      </p:sp>
      <p:pic>
        <p:nvPicPr>
          <p:cNvPr id="12" name="Picture 4">
            <a:extLst>
              <a:ext uri="{FF2B5EF4-FFF2-40B4-BE49-F238E27FC236}">
                <a16:creationId xmlns:a16="http://schemas.microsoft.com/office/drawing/2014/main" id="{D2CC023F-944C-4888-BFFD-1C7900DAA23A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49911"/>
          <a:stretch/>
        </p:blipFill>
        <p:spPr bwMode="auto">
          <a:xfrm>
            <a:off x="2054972" y="3019766"/>
            <a:ext cx="6403263" cy="426698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3" name="Picture 4">
            <a:extLst>
              <a:ext uri="{FF2B5EF4-FFF2-40B4-BE49-F238E27FC236}">
                <a16:creationId xmlns:a16="http://schemas.microsoft.com/office/drawing/2014/main" id="{6E6C8FB8-5A31-4869-A56D-F02C65B34C61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9911"/>
          <a:stretch/>
        </p:blipFill>
        <p:spPr bwMode="auto">
          <a:xfrm>
            <a:off x="9829765" y="3019766"/>
            <a:ext cx="6403263" cy="426698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1" name="TextBox 20">
            <a:extLst>
              <a:ext uri="{FF2B5EF4-FFF2-40B4-BE49-F238E27FC236}">
                <a16:creationId xmlns:a16="http://schemas.microsoft.com/office/drawing/2014/main" id="{D1924DF6-7ABF-4991-ADF5-645356C5F0CE}"/>
              </a:ext>
            </a:extLst>
          </p:cNvPr>
          <p:cNvSpPr txBox="1"/>
          <p:nvPr/>
        </p:nvSpPr>
        <p:spPr>
          <a:xfrm>
            <a:off x="3504094" y="2400440"/>
            <a:ext cx="3505021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ko-KR" altLang="en-US" sz="2400" dirty="0">
                <a:ln w="3175">
                  <a:solidFill>
                    <a:schemeClr val="tx1">
                      <a:lumMod val="65000"/>
                      <a:lumOff val="35000"/>
                      <a:alpha val="20000"/>
                    </a:schemeClr>
                  </a:solidFill>
                </a:ln>
                <a:latin typeface="넥슨Lv2고딕" panose="00000500000000000000" pitchFamily="2" charset="-127"/>
                <a:ea typeface="넥슨Lv2고딕" panose="00000500000000000000" pitchFamily="2" charset="-127"/>
              </a:rPr>
              <a:t>니콘 카메라로 촬영한 사진</a:t>
            </a:r>
            <a:endParaRPr lang="ko-KR" altLang="en-US" sz="2400" dirty="0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6692A913-0002-4BCF-9BA5-03A81DF7B4BE}"/>
              </a:ext>
            </a:extLst>
          </p:cNvPr>
          <p:cNvSpPr txBox="1"/>
          <p:nvPr/>
        </p:nvSpPr>
        <p:spPr>
          <a:xfrm>
            <a:off x="11279283" y="2400440"/>
            <a:ext cx="3505021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ko-KR" altLang="en-US" sz="2400" dirty="0">
                <a:ln w="3175">
                  <a:solidFill>
                    <a:schemeClr val="tx1">
                      <a:lumMod val="65000"/>
                      <a:lumOff val="35000"/>
                      <a:alpha val="20000"/>
                    </a:schemeClr>
                  </a:solidFill>
                </a:ln>
                <a:latin typeface="넥슨Lv2고딕" panose="00000500000000000000" pitchFamily="2" charset="-127"/>
                <a:ea typeface="넥슨Lv2고딕" panose="00000500000000000000" pitchFamily="2" charset="-127"/>
              </a:rPr>
              <a:t>캐논 카메라로 촬영한 사진</a:t>
            </a:r>
            <a:endParaRPr lang="ko-KR" altLang="en-US" sz="2400" dirty="0"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903E780A-DAE7-4821-9FE0-9F0560F8F3B1}"/>
              </a:ext>
            </a:extLst>
          </p:cNvPr>
          <p:cNvSpPr txBox="1"/>
          <p:nvPr/>
        </p:nvSpPr>
        <p:spPr>
          <a:xfrm>
            <a:off x="3706179" y="7646096"/>
            <a:ext cx="10799448" cy="1153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893" indent="-342893" algn="ctr">
              <a:lnSpc>
                <a:spcPct val="150000"/>
              </a:lnSpc>
              <a:buFont typeface="Wingdings" panose="05000000000000000000" pitchFamily="2" charset="2"/>
              <a:buChar char="à"/>
            </a:pPr>
            <a:r>
              <a:rPr lang="ko-KR" altLang="en-US" sz="2400" dirty="0">
                <a:ln w="3175">
                  <a:solidFill>
                    <a:schemeClr val="tx1">
                      <a:lumMod val="65000"/>
                      <a:lumOff val="35000"/>
                      <a:alpha val="20000"/>
                    </a:schemeClr>
                  </a:solidFill>
                </a:ln>
                <a:latin typeface="넥슨Lv2고딕" panose="00000500000000000000" pitchFamily="2" charset="-127"/>
                <a:ea typeface="넥슨Lv2고딕" panose="00000500000000000000" pitchFamily="2" charset="-127"/>
                <a:sym typeface="Wingdings" panose="05000000000000000000" pitchFamily="2" charset="2"/>
              </a:rPr>
              <a:t>같은 장면이라도 카메라 마다 색을 다르게 처리</a:t>
            </a:r>
            <a:r>
              <a:rPr lang="en-US" altLang="ko-KR" sz="2400" dirty="0">
                <a:ln w="3175">
                  <a:solidFill>
                    <a:schemeClr val="tx1">
                      <a:lumMod val="65000"/>
                      <a:lumOff val="35000"/>
                      <a:alpha val="20000"/>
                    </a:schemeClr>
                  </a:solidFill>
                </a:ln>
                <a:latin typeface="넥슨Lv2고딕" panose="00000500000000000000" pitchFamily="2" charset="-127"/>
                <a:ea typeface="넥슨Lv2고딕" panose="00000500000000000000" pitchFamily="2" charset="-127"/>
                <a:sym typeface="Wingdings" panose="05000000000000000000" pitchFamily="2" charset="2"/>
              </a:rPr>
              <a:t>.</a:t>
            </a:r>
          </a:p>
          <a:p>
            <a:pPr marL="342893" indent="-342893" algn="ctr">
              <a:lnSpc>
                <a:spcPct val="150000"/>
              </a:lnSpc>
              <a:buFont typeface="Wingdings" panose="05000000000000000000" pitchFamily="2" charset="2"/>
              <a:buChar char="à"/>
            </a:pPr>
            <a:r>
              <a:rPr lang="ko-KR" altLang="en-US" sz="2400" dirty="0">
                <a:ln w="3175">
                  <a:solidFill>
                    <a:schemeClr val="tx1">
                      <a:lumMod val="65000"/>
                      <a:lumOff val="35000"/>
                      <a:alpha val="20000"/>
                    </a:schemeClr>
                  </a:solidFill>
                </a:ln>
                <a:latin typeface="넥슨Lv2고딕" panose="00000500000000000000" pitchFamily="2" charset="-127"/>
                <a:ea typeface="넥슨Lv2고딕" panose="00000500000000000000" pitchFamily="2" charset="-127"/>
                <a:sym typeface="Wingdings" panose="05000000000000000000" pitchFamily="2" charset="2"/>
              </a:rPr>
              <a:t>같은 조명이라도 카메라 마다 </a:t>
            </a:r>
            <a:r>
              <a:rPr lang="en-US" altLang="ko-KR" sz="2400" dirty="0">
                <a:ln w="3175">
                  <a:solidFill>
                    <a:schemeClr val="tx1">
                      <a:lumMod val="65000"/>
                      <a:lumOff val="35000"/>
                      <a:alpha val="20000"/>
                    </a:schemeClr>
                  </a:solidFill>
                </a:ln>
                <a:latin typeface="넥슨Lv2고딕" panose="00000500000000000000" pitchFamily="2" charset="-127"/>
                <a:ea typeface="넥슨Lv2고딕" panose="00000500000000000000" pitchFamily="2" charset="-127"/>
                <a:sym typeface="Wingdings" panose="05000000000000000000" pitchFamily="2" charset="2"/>
              </a:rPr>
              <a:t>color constancy </a:t>
            </a:r>
            <a:r>
              <a:rPr lang="ko-KR" altLang="en-US" sz="2400" dirty="0">
                <a:ln w="3175">
                  <a:solidFill>
                    <a:schemeClr val="tx1">
                      <a:lumMod val="65000"/>
                      <a:lumOff val="35000"/>
                      <a:alpha val="20000"/>
                    </a:schemeClr>
                  </a:solidFill>
                </a:ln>
                <a:latin typeface="넥슨Lv2고딕" panose="00000500000000000000" pitchFamily="2" charset="-127"/>
                <a:ea typeface="넥슨Lv2고딕" panose="00000500000000000000" pitchFamily="2" charset="-127"/>
                <a:sym typeface="Wingdings" panose="05000000000000000000" pitchFamily="2" charset="2"/>
              </a:rPr>
              <a:t>모델이 달라져야 함</a:t>
            </a:r>
            <a:endParaRPr lang="en-US" altLang="ko-KR" sz="2400" dirty="0">
              <a:ln w="3175">
                <a:solidFill>
                  <a:schemeClr val="tx1">
                    <a:lumMod val="65000"/>
                    <a:lumOff val="35000"/>
                    <a:alpha val="20000"/>
                  </a:schemeClr>
                </a:solidFill>
              </a:ln>
              <a:latin typeface="넥슨Lv2고딕" panose="00000500000000000000" pitchFamily="2" charset="-127"/>
              <a:ea typeface="넥슨Lv2고딕" panose="00000500000000000000" pitchFamily="2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842548765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eelOff"/>
      </p:transition>
    </mc:Choice>
    <mc:Fallback xmlns=""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" name="그룹 1001">
            <a:extLst>
              <a:ext uri="{FF2B5EF4-FFF2-40B4-BE49-F238E27FC236}">
                <a16:creationId xmlns:a16="http://schemas.microsoft.com/office/drawing/2014/main" id="{55CFA78B-DB81-400B-9995-9B2CE408C47A}"/>
              </a:ext>
            </a:extLst>
          </p:cNvPr>
          <p:cNvGrpSpPr/>
          <p:nvPr/>
        </p:nvGrpSpPr>
        <p:grpSpPr>
          <a:xfrm>
            <a:off x="777732" y="1641432"/>
            <a:ext cx="917523" cy="73244"/>
            <a:chOff x="1313068" y="2127719"/>
            <a:chExt cx="917569" cy="73247"/>
          </a:xfrm>
        </p:grpSpPr>
        <p:pic>
          <p:nvPicPr>
            <p:cNvPr id="17" name="Object 2">
              <a:extLst>
                <a:ext uri="{FF2B5EF4-FFF2-40B4-BE49-F238E27FC236}">
                  <a16:creationId xmlns:a16="http://schemas.microsoft.com/office/drawing/2014/main" id="{4286C98B-FE7D-4C87-BB68-11682AAF9A72}"/>
                </a:ext>
              </a:extLst>
            </p:cNvPr>
            <p:cNvPicPr>
              <a:picLocks noChangeAspect="1"/>
            </p:cNvPicPr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313068" y="2127719"/>
              <a:ext cx="917569" cy="73247"/>
            </a:xfrm>
            <a:prstGeom prst="rect">
              <a:avLst/>
            </a:prstGeom>
          </p:spPr>
        </p:pic>
      </p:grpSp>
      <p:sp>
        <p:nvSpPr>
          <p:cNvPr id="14" name="Object 31">
            <a:extLst>
              <a:ext uri="{FF2B5EF4-FFF2-40B4-BE49-F238E27FC236}">
                <a16:creationId xmlns:a16="http://schemas.microsoft.com/office/drawing/2014/main" id="{EBBA54AF-072B-4BA3-8A89-197ABB143051}"/>
              </a:ext>
            </a:extLst>
          </p:cNvPr>
          <p:cNvSpPr txBox="1"/>
          <p:nvPr/>
        </p:nvSpPr>
        <p:spPr>
          <a:xfrm>
            <a:off x="666784" y="574687"/>
            <a:ext cx="10458316" cy="671297"/>
          </a:xfrm>
          <a:prstGeom prst="rect">
            <a:avLst/>
          </a:prstGeom>
          <a:noFill/>
        </p:spPr>
        <p:txBody>
          <a:bodyPr wrap="square" rtlCol="0"/>
          <a:lstStyle/>
          <a:p>
            <a:pPr algn="just">
              <a:lnSpc>
                <a:spcPct val="130000"/>
              </a:lnSpc>
            </a:pPr>
            <a:r>
              <a:rPr lang="ko-KR" altLang="en-US" sz="3600" spc="101" dirty="0">
                <a:ln w="3175">
                  <a:solidFill>
                    <a:srgbClr val="0044D6">
                      <a:alpha val="0"/>
                    </a:srgbClr>
                  </a:solidFill>
                </a:ln>
                <a:solidFill>
                  <a:srgbClr val="1464E2"/>
                </a:solidFill>
                <a:latin typeface="넥슨Lv2고딕 Bold" panose="00000800000000000000" pitchFamily="2" charset="-127"/>
                <a:ea typeface="넥슨Lv2고딕 Bold" panose="00000800000000000000" pitchFamily="2" charset="-127"/>
              </a:rPr>
              <a:t>연구 제안</a:t>
            </a:r>
            <a:endParaRPr lang="en-US" sz="3600" spc="101" dirty="0">
              <a:ln w="3175">
                <a:solidFill>
                  <a:srgbClr val="0044D6">
                    <a:alpha val="0"/>
                  </a:srgbClr>
                </a:solidFill>
              </a:ln>
              <a:solidFill>
                <a:srgbClr val="1464E2"/>
              </a:solidFill>
              <a:latin typeface="넥슨Lv2고딕 Bold" panose="00000800000000000000" pitchFamily="2" charset="-127"/>
              <a:ea typeface="넥슨Lv2고딕 Bold" panose="00000800000000000000" pitchFamily="2" charset="-127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EB744294-AF3A-4720-9B3C-396FE12BBFEA}"/>
              </a:ext>
            </a:extLst>
          </p:cNvPr>
          <p:cNvSpPr txBox="1"/>
          <p:nvPr/>
        </p:nvSpPr>
        <p:spPr>
          <a:xfrm>
            <a:off x="1044414" y="4431155"/>
            <a:ext cx="16199173" cy="1702896"/>
          </a:xfrm>
          <a:prstGeom prst="rect">
            <a:avLst/>
          </a:prstGeom>
          <a:noFill/>
          <a:ln>
            <a:solidFill>
              <a:srgbClr val="4E93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algn="ctr">
              <a:defRPr sz="3200"/>
            </a:lvl1pPr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r>
              <a:rPr lang="ko-KR" altLang="en-US" sz="2801" dirty="0">
                <a:ln w="3175">
                  <a:solidFill>
                    <a:schemeClr val="tx1">
                      <a:lumMod val="65000"/>
                      <a:lumOff val="35000"/>
                      <a:alpha val="20000"/>
                    </a:schemeClr>
                  </a:solidFill>
                </a:ln>
                <a:solidFill>
                  <a:schemeClr val="tx1"/>
                </a:solidFill>
                <a:latin typeface="넥슨Lv2고딕" panose="00000500000000000000" pitchFamily="2" charset="-127"/>
                <a:ea typeface="넥슨Lv2고딕" panose="00000500000000000000" pitchFamily="2" charset="-127"/>
              </a:rPr>
              <a:t>한 번 학습된 </a:t>
            </a:r>
            <a:r>
              <a:rPr lang="en-US" altLang="ko-KR" sz="2801" dirty="0">
                <a:ln w="3175">
                  <a:solidFill>
                    <a:schemeClr val="tx1">
                      <a:lumMod val="65000"/>
                      <a:lumOff val="35000"/>
                      <a:alpha val="20000"/>
                    </a:schemeClr>
                  </a:solidFill>
                </a:ln>
                <a:solidFill>
                  <a:schemeClr val="tx1"/>
                </a:solidFill>
                <a:latin typeface="넥슨Lv2고딕" panose="00000500000000000000" pitchFamily="2" charset="-127"/>
                <a:ea typeface="넥슨Lv2고딕" panose="00000500000000000000" pitchFamily="2" charset="-127"/>
              </a:rPr>
              <a:t>Color</a:t>
            </a:r>
            <a:r>
              <a:rPr lang="ko-KR" altLang="en-US" sz="2801" dirty="0">
                <a:ln w="3175">
                  <a:solidFill>
                    <a:schemeClr val="tx1">
                      <a:lumMod val="65000"/>
                      <a:lumOff val="35000"/>
                      <a:alpha val="20000"/>
                    </a:schemeClr>
                  </a:solidFill>
                </a:ln>
                <a:solidFill>
                  <a:schemeClr val="tx1"/>
                </a:solidFill>
                <a:latin typeface="넥슨Lv2고딕" panose="00000500000000000000" pitchFamily="2" charset="-127"/>
                <a:ea typeface="넥슨Lv2고딕" panose="00000500000000000000" pitchFamily="2" charset="-127"/>
              </a:rPr>
              <a:t> </a:t>
            </a:r>
            <a:r>
              <a:rPr lang="en-US" altLang="ko-KR" sz="2801" dirty="0">
                <a:ln w="3175">
                  <a:solidFill>
                    <a:schemeClr val="tx1">
                      <a:lumMod val="65000"/>
                      <a:lumOff val="35000"/>
                      <a:alpha val="20000"/>
                    </a:schemeClr>
                  </a:solidFill>
                </a:ln>
                <a:solidFill>
                  <a:schemeClr val="tx1"/>
                </a:solidFill>
                <a:latin typeface="넥슨Lv2고딕" panose="00000500000000000000" pitchFamily="2" charset="-127"/>
                <a:ea typeface="넥슨Lv2고딕" panose="00000500000000000000" pitchFamily="2" charset="-127"/>
              </a:rPr>
              <a:t>Constancy</a:t>
            </a:r>
            <a:r>
              <a:rPr lang="ko-KR" altLang="en-US" sz="2801" dirty="0">
                <a:ln w="3175">
                  <a:solidFill>
                    <a:schemeClr val="tx1">
                      <a:lumMod val="65000"/>
                      <a:lumOff val="35000"/>
                      <a:alpha val="20000"/>
                    </a:schemeClr>
                  </a:solidFill>
                </a:ln>
                <a:solidFill>
                  <a:schemeClr val="tx1"/>
                </a:solidFill>
                <a:latin typeface="넥슨Lv2고딕" panose="00000500000000000000" pitchFamily="2" charset="-127"/>
                <a:ea typeface="넥슨Lv2고딕" panose="00000500000000000000" pitchFamily="2" charset="-127"/>
              </a:rPr>
              <a:t> 모델이 </a:t>
            </a:r>
            <a:r>
              <a:rPr lang="ko-KR" altLang="en-US" sz="2801" spc="101" dirty="0">
                <a:ln w="3175">
                  <a:solidFill>
                    <a:srgbClr val="0044D6">
                      <a:alpha val="0"/>
                    </a:srgbClr>
                  </a:solidFill>
                </a:ln>
                <a:solidFill>
                  <a:srgbClr val="1464E2"/>
                </a:solidFill>
                <a:latin typeface="넥슨Lv2고딕 Medium" panose="00000600000000000000" pitchFamily="2" charset="-127"/>
                <a:ea typeface="넥슨Lv2고딕 Medium" panose="00000600000000000000" pitchFamily="2" charset="-127"/>
              </a:rPr>
              <a:t>새로운 카메라에 </a:t>
            </a:r>
            <a:r>
              <a:rPr lang="ko-KR" altLang="en-US" sz="2801" spc="101" dirty="0">
                <a:ln w="3175">
                  <a:solidFill>
                    <a:schemeClr val="tx1">
                      <a:lumMod val="65000"/>
                      <a:lumOff val="35000"/>
                      <a:alpha val="20000"/>
                    </a:schemeClr>
                  </a:solidFill>
                </a:ln>
                <a:solidFill>
                  <a:schemeClr val="tx1"/>
                </a:solidFill>
                <a:latin typeface="넥슨Lv2고딕" panose="00000500000000000000" pitchFamily="2" charset="-127"/>
                <a:ea typeface="넥슨Lv2고딕" panose="00000500000000000000" pitchFamily="2" charset="-127"/>
              </a:rPr>
              <a:t>빠르게 </a:t>
            </a:r>
            <a:r>
              <a:rPr lang="ko-KR" altLang="en-US" sz="2801" dirty="0">
                <a:ln w="3175">
                  <a:solidFill>
                    <a:schemeClr val="tx1">
                      <a:lumMod val="65000"/>
                      <a:lumOff val="35000"/>
                      <a:alpha val="20000"/>
                    </a:schemeClr>
                  </a:solidFill>
                </a:ln>
                <a:solidFill>
                  <a:schemeClr val="tx1"/>
                </a:solidFill>
                <a:latin typeface="넥슨Lv2고딕" panose="00000500000000000000" pitchFamily="2" charset="-127"/>
                <a:ea typeface="넥슨Lv2고딕" panose="00000500000000000000" pitchFamily="2" charset="-127"/>
              </a:rPr>
              <a:t>적응하는 방안을 연구</a:t>
            </a:r>
            <a:endParaRPr lang="en-US" altLang="ko-KR" sz="2801" dirty="0">
              <a:ln w="3175">
                <a:solidFill>
                  <a:schemeClr val="tx1">
                    <a:lumMod val="65000"/>
                    <a:lumOff val="35000"/>
                    <a:alpha val="20000"/>
                  </a:schemeClr>
                </a:solidFill>
              </a:ln>
              <a:solidFill>
                <a:schemeClr val="tx1"/>
              </a:solidFill>
              <a:latin typeface="넥슨Lv2고딕" panose="00000500000000000000" pitchFamily="2" charset="-127"/>
              <a:ea typeface="넥슨Lv2고딕" panose="00000500000000000000" pitchFamily="2" charset="-127"/>
              <a:sym typeface="Wingdings" panose="05000000000000000000" pitchFamily="2" charset="2"/>
            </a:endParaRPr>
          </a:p>
        </p:txBody>
      </p:sp>
    </p:spTree>
    <p:extLst>
      <p:ext uri="{BB962C8B-B14F-4D97-AF65-F5344CB8AC3E}">
        <p14:creationId xmlns:p14="http://schemas.microsoft.com/office/powerpoint/2010/main" val="1490619567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eelOff"/>
      </p:transition>
    </mc:Choice>
    <mc:Fallback xmlns=""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" name="그룹 1001">
            <a:extLst>
              <a:ext uri="{FF2B5EF4-FFF2-40B4-BE49-F238E27FC236}">
                <a16:creationId xmlns:a16="http://schemas.microsoft.com/office/drawing/2014/main" id="{55CFA78B-DB81-400B-9995-9B2CE408C47A}"/>
              </a:ext>
            </a:extLst>
          </p:cNvPr>
          <p:cNvGrpSpPr/>
          <p:nvPr/>
        </p:nvGrpSpPr>
        <p:grpSpPr>
          <a:xfrm>
            <a:off x="777732" y="1641432"/>
            <a:ext cx="917523" cy="73244"/>
            <a:chOff x="1313068" y="2127719"/>
            <a:chExt cx="917569" cy="73247"/>
          </a:xfrm>
        </p:grpSpPr>
        <p:pic>
          <p:nvPicPr>
            <p:cNvPr id="17" name="Object 2">
              <a:extLst>
                <a:ext uri="{FF2B5EF4-FFF2-40B4-BE49-F238E27FC236}">
                  <a16:creationId xmlns:a16="http://schemas.microsoft.com/office/drawing/2014/main" id="{4286C98B-FE7D-4C87-BB68-11682AAF9A72}"/>
                </a:ext>
              </a:extLst>
            </p:cNvPr>
            <p:cNvPicPr>
              <a:picLocks noChangeAspect="1"/>
            </p:cNvPicPr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313068" y="2127719"/>
              <a:ext cx="917569" cy="73247"/>
            </a:xfrm>
            <a:prstGeom prst="rect">
              <a:avLst/>
            </a:prstGeom>
          </p:spPr>
        </p:pic>
      </p:grpSp>
      <p:sp>
        <p:nvSpPr>
          <p:cNvPr id="14" name="Object 31">
            <a:extLst>
              <a:ext uri="{FF2B5EF4-FFF2-40B4-BE49-F238E27FC236}">
                <a16:creationId xmlns:a16="http://schemas.microsoft.com/office/drawing/2014/main" id="{EBBA54AF-072B-4BA3-8A89-197ABB143051}"/>
              </a:ext>
            </a:extLst>
          </p:cNvPr>
          <p:cNvSpPr txBox="1"/>
          <p:nvPr/>
        </p:nvSpPr>
        <p:spPr>
          <a:xfrm>
            <a:off x="666784" y="574687"/>
            <a:ext cx="10458316" cy="671297"/>
          </a:xfrm>
          <a:prstGeom prst="rect">
            <a:avLst/>
          </a:prstGeom>
          <a:noFill/>
        </p:spPr>
        <p:txBody>
          <a:bodyPr wrap="square" rtlCol="0"/>
          <a:lstStyle/>
          <a:p>
            <a:pPr algn="just">
              <a:lnSpc>
                <a:spcPct val="130000"/>
              </a:lnSpc>
            </a:pPr>
            <a:r>
              <a:rPr lang="ko-KR" altLang="en-US" sz="3600" spc="101" dirty="0">
                <a:ln w="3175">
                  <a:solidFill>
                    <a:srgbClr val="0044D6">
                      <a:alpha val="0"/>
                    </a:srgbClr>
                  </a:solidFill>
                </a:ln>
                <a:solidFill>
                  <a:srgbClr val="1464E2"/>
                </a:solidFill>
                <a:latin typeface="넥슨Lv2고딕 Bold" panose="00000800000000000000" pitchFamily="2" charset="-127"/>
                <a:ea typeface="넥슨Lv2고딕 Bold" panose="00000800000000000000" pitchFamily="2" charset="-127"/>
              </a:rPr>
              <a:t>연구 방법론 </a:t>
            </a:r>
            <a:r>
              <a:rPr lang="en-US" altLang="ko-KR" sz="3600" spc="101" dirty="0">
                <a:ln w="3175">
                  <a:solidFill>
                    <a:srgbClr val="0044D6">
                      <a:alpha val="0"/>
                    </a:srgbClr>
                  </a:solidFill>
                </a:ln>
                <a:solidFill>
                  <a:srgbClr val="1464E2"/>
                </a:solidFill>
                <a:latin typeface="넥슨Lv2고딕 Bold" panose="00000800000000000000" pitchFamily="2" charset="-127"/>
                <a:ea typeface="넥슨Lv2고딕 Bold" panose="00000800000000000000" pitchFamily="2" charset="-127"/>
              </a:rPr>
              <a:t>– Meta Learning</a:t>
            </a:r>
            <a:endParaRPr lang="en-US" sz="3600" spc="101" dirty="0">
              <a:ln w="3175">
                <a:solidFill>
                  <a:srgbClr val="0044D6">
                    <a:alpha val="0"/>
                  </a:srgbClr>
                </a:solidFill>
              </a:ln>
              <a:solidFill>
                <a:srgbClr val="1464E2"/>
              </a:solidFill>
              <a:latin typeface="넥슨Lv2고딕 Bold" panose="00000800000000000000" pitchFamily="2" charset="-127"/>
              <a:ea typeface="넥슨Lv2고딕 Bold" panose="00000800000000000000" pitchFamily="2" charset="-127"/>
            </a:endParaRP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A14A244C-BF17-48B4-BE25-04CE3B233031}"/>
              </a:ext>
            </a:extLst>
          </p:cNvPr>
          <p:cNvSpPr/>
          <p:nvPr/>
        </p:nvSpPr>
        <p:spPr>
          <a:xfrm>
            <a:off x="467" y="9494778"/>
            <a:ext cx="18287066" cy="791959"/>
          </a:xfrm>
          <a:prstGeom prst="rect">
            <a:avLst/>
          </a:prstGeom>
          <a:solidFill>
            <a:srgbClr val="4E93F0">
              <a:alpha val="2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36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13B0CA46-05B6-4AEE-AF87-6FEA488C7381}"/>
              </a:ext>
            </a:extLst>
          </p:cNvPr>
          <p:cNvSpPr txBox="1"/>
          <p:nvPr/>
        </p:nvSpPr>
        <p:spPr>
          <a:xfrm>
            <a:off x="1161610" y="9532897"/>
            <a:ext cx="15906786" cy="599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</a:pPr>
            <a:r>
              <a:rPr lang="ko-KR" altLang="en-US" sz="2400" dirty="0">
                <a:ln w="3175">
                  <a:solidFill>
                    <a:schemeClr val="tx1">
                      <a:lumMod val="65000"/>
                      <a:lumOff val="35000"/>
                      <a:alpha val="20000"/>
                    </a:schemeClr>
                  </a:solidFill>
                </a:ln>
                <a:latin typeface="넥슨Lv2고딕" panose="00000500000000000000" pitchFamily="2" charset="-127"/>
                <a:ea typeface="넥슨Lv2고딕" panose="00000500000000000000" pitchFamily="2" charset="-127"/>
                <a:sym typeface="Wingdings" panose="05000000000000000000" pitchFamily="2" charset="2"/>
              </a:rPr>
              <a:t>메타러닝을 이용해 새로운 카메라에 빠르게 적응하기 위한 초기 파라미터 값을 학습</a:t>
            </a:r>
            <a:endParaRPr lang="en-US" altLang="ko-KR" sz="2400" dirty="0">
              <a:ln w="3175">
                <a:solidFill>
                  <a:schemeClr val="tx1">
                    <a:lumMod val="65000"/>
                    <a:lumOff val="35000"/>
                    <a:alpha val="20000"/>
                  </a:schemeClr>
                </a:solidFill>
              </a:ln>
              <a:latin typeface="넥슨Lv2고딕" panose="00000500000000000000" pitchFamily="2" charset="-127"/>
              <a:ea typeface="넥슨Lv2고딕" panose="00000500000000000000" pitchFamily="2" charset="-127"/>
              <a:sym typeface="Wingdings" panose="05000000000000000000" pitchFamily="2" charset="2"/>
            </a:endParaRPr>
          </a:p>
        </p:txBody>
      </p:sp>
      <p:pic>
        <p:nvPicPr>
          <p:cNvPr id="13" name="Picture 2">
            <a:extLst>
              <a:ext uri="{FF2B5EF4-FFF2-40B4-BE49-F238E27FC236}">
                <a16:creationId xmlns:a16="http://schemas.microsoft.com/office/drawing/2014/main" id="{9277E46F-9C93-4A79-9CE8-901755DEA38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3841" y="2781421"/>
            <a:ext cx="8765721" cy="429875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8" name="TextBox 17">
            <a:extLst>
              <a:ext uri="{FF2B5EF4-FFF2-40B4-BE49-F238E27FC236}">
                <a16:creationId xmlns:a16="http://schemas.microsoft.com/office/drawing/2014/main" id="{8188EB76-CF77-46C3-81B1-ECFEE6521AF5}"/>
              </a:ext>
            </a:extLst>
          </p:cNvPr>
          <p:cNvSpPr txBox="1"/>
          <p:nvPr/>
        </p:nvSpPr>
        <p:spPr>
          <a:xfrm>
            <a:off x="9524980" y="3498226"/>
            <a:ext cx="7543415" cy="22613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893" lvl="1" indent="-342893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2400" dirty="0">
                <a:ln w="3175">
                  <a:solidFill>
                    <a:schemeClr val="tx1">
                      <a:lumMod val="65000"/>
                      <a:lumOff val="35000"/>
                      <a:alpha val="20000"/>
                    </a:schemeClr>
                  </a:solidFill>
                </a:ln>
                <a:latin typeface="넥슨Lv2고딕" panose="00000500000000000000" pitchFamily="2" charset="-127"/>
                <a:ea typeface="넥슨Lv2고딕" panose="00000500000000000000" pitchFamily="2" charset="-127"/>
                <a:sym typeface="Wingdings" panose="05000000000000000000" pitchFamily="2" charset="2"/>
              </a:rPr>
              <a:t>태스크가 바뀌어도 최대한 빠르게</a:t>
            </a:r>
            <a:r>
              <a:rPr lang="en-US" altLang="ko-KR" sz="2400" dirty="0">
                <a:ln w="3175">
                  <a:solidFill>
                    <a:schemeClr val="tx1">
                      <a:lumMod val="65000"/>
                      <a:lumOff val="35000"/>
                      <a:alpha val="20000"/>
                    </a:schemeClr>
                  </a:solidFill>
                </a:ln>
                <a:latin typeface="넥슨Lv2고딕" panose="00000500000000000000" pitchFamily="2" charset="-127"/>
                <a:ea typeface="넥슨Lv2고딕" panose="00000500000000000000" pitchFamily="2" charset="-127"/>
                <a:sym typeface="Wingdings" panose="05000000000000000000" pitchFamily="2" charset="2"/>
              </a:rPr>
              <a:t> </a:t>
            </a:r>
            <a:r>
              <a:rPr lang="ko-KR" altLang="en-US" sz="2400" dirty="0">
                <a:ln w="3175">
                  <a:solidFill>
                    <a:schemeClr val="tx1">
                      <a:lumMod val="65000"/>
                      <a:lumOff val="35000"/>
                      <a:alpha val="20000"/>
                    </a:schemeClr>
                  </a:solidFill>
                </a:ln>
                <a:latin typeface="넥슨Lv2고딕" panose="00000500000000000000" pitchFamily="2" charset="-127"/>
                <a:ea typeface="넥슨Lv2고딕" panose="00000500000000000000" pitchFamily="2" charset="-127"/>
                <a:sym typeface="Wingdings" panose="05000000000000000000" pitchFamily="2" charset="2"/>
              </a:rPr>
              <a:t>적응이 가능하도록 최적의 초기값을 학습</a:t>
            </a:r>
            <a:endParaRPr lang="en-US" altLang="ko-KR" sz="2400" dirty="0">
              <a:ln w="3175">
                <a:solidFill>
                  <a:schemeClr val="tx1">
                    <a:lumMod val="65000"/>
                    <a:lumOff val="35000"/>
                    <a:alpha val="20000"/>
                  </a:schemeClr>
                </a:solidFill>
              </a:ln>
              <a:latin typeface="넥슨Lv2고딕" panose="00000500000000000000" pitchFamily="2" charset="-127"/>
              <a:ea typeface="넥슨Lv2고딕" panose="00000500000000000000" pitchFamily="2" charset="-127"/>
              <a:sym typeface="Wingdings" panose="05000000000000000000" pitchFamily="2" charset="2"/>
            </a:endParaRPr>
          </a:p>
          <a:p>
            <a:pPr marL="342893" lvl="1" indent="-342893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2400" dirty="0">
                <a:ln w="3175">
                  <a:solidFill>
                    <a:schemeClr val="tx1">
                      <a:lumMod val="65000"/>
                      <a:lumOff val="35000"/>
                      <a:alpha val="20000"/>
                    </a:schemeClr>
                  </a:solidFill>
                </a:ln>
                <a:latin typeface="넥슨Lv2고딕" panose="00000500000000000000" pitchFamily="2" charset="-127"/>
                <a:ea typeface="넥슨Lv2고딕" panose="00000500000000000000" pitchFamily="2" charset="-127"/>
                <a:sym typeface="Wingdings" panose="05000000000000000000" pitchFamily="2" charset="2"/>
              </a:rPr>
              <a:t>초기값이 잘 학습되면 몇</a:t>
            </a:r>
            <a:r>
              <a:rPr lang="en-US" altLang="ko-KR" sz="2400" dirty="0">
                <a:ln w="3175">
                  <a:solidFill>
                    <a:schemeClr val="tx1">
                      <a:lumMod val="65000"/>
                      <a:lumOff val="35000"/>
                      <a:alpha val="20000"/>
                    </a:schemeClr>
                  </a:solidFill>
                </a:ln>
                <a:latin typeface="넥슨Lv2고딕" panose="00000500000000000000" pitchFamily="2" charset="-127"/>
                <a:ea typeface="넥슨Lv2고딕" panose="00000500000000000000" pitchFamily="2" charset="-127"/>
                <a:sym typeface="Wingdings" panose="05000000000000000000" pitchFamily="2" charset="2"/>
              </a:rPr>
              <a:t> </a:t>
            </a:r>
            <a:r>
              <a:rPr lang="ko-KR" altLang="en-US" sz="2400" dirty="0">
                <a:ln w="3175">
                  <a:solidFill>
                    <a:schemeClr val="tx1">
                      <a:lumMod val="65000"/>
                      <a:lumOff val="35000"/>
                      <a:alpha val="20000"/>
                    </a:schemeClr>
                  </a:solidFill>
                </a:ln>
                <a:latin typeface="넥슨Lv2고딕" panose="00000500000000000000" pitchFamily="2" charset="-127"/>
                <a:ea typeface="넥슨Lv2고딕" panose="00000500000000000000" pitchFamily="2" charset="-127"/>
                <a:sym typeface="Wingdings" panose="05000000000000000000" pitchFamily="2" charset="2"/>
              </a:rPr>
              <a:t>번</a:t>
            </a:r>
            <a:r>
              <a:rPr lang="en-US" altLang="ko-KR" sz="2400" dirty="0">
                <a:ln w="3175">
                  <a:solidFill>
                    <a:schemeClr val="tx1">
                      <a:lumMod val="65000"/>
                      <a:lumOff val="35000"/>
                      <a:alpha val="20000"/>
                    </a:schemeClr>
                  </a:solidFill>
                </a:ln>
                <a:latin typeface="넥슨Lv2고딕" panose="00000500000000000000" pitchFamily="2" charset="-127"/>
                <a:ea typeface="넥슨Lv2고딕" panose="00000500000000000000" pitchFamily="2" charset="-127"/>
                <a:sym typeface="Wingdings" panose="05000000000000000000" pitchFamily="2" charset="2"/>
              </a:rPr>
              <a:t>(10</a:t>
            </a:r>
            <a:r>
              <a:rPr lang="ko-KR" altLang="en-US" sz="2400" dirty="0">
                <a:ln w="3175">
                  <a:solidFill>
                    <a:schemeClr val="tx1">
                      <a:lumMod val="65000"/>
                      <a:lumOff val="35000"/>
                      <a:alpha val="20000"/>
                    </a:schemeClr>
                  </a:solidFill>
                </a:ln>
                <a:latin typeface="넥슨Lv2고딕" panose="00000500000000000000" pitchFamily="2" charset="-127"/>
                <a:ea typeface="넥슨Lv2고딕" panose="00000500000000000000" pitchFamily="2" charset="-127"/>
                <a:sym typeface="Wingdings" panose="05000000000000000000" pitchFamily="2" charset="2"/>
              </a:rPr>
              <a:t>번 이하</a:t>
            </a:r>
            <a:r>
              <a:rPr lang="en-US" altLang="ko-KR" sz="2400" dirty="0">
                <a:ln w="3175">
                  <a:solidFill>
                    <a:schemeClr val="tx1">
                      <a:lumMod val="65000"/>
                      <a:lumOff val="35000"/>
                      <a:alpha val="20000"/>
                    </a:schemeClr>
                  </a:solidFill>
                </a:ln>
                <a:latin typeface="넥슨Lv2고딕" panose="00000500000000000000" pitchFamily="2" charset="-127"/>
                <a:ea typeface="넥슨Lv2고딕" panose="00000500000000000000" pitchFamily="2" charset="-127"/>
                <a:sym typeface="Wingdings" panose="05000000000000000000" pitchFamily="2" charset="2"/>
              </a:rPr>
              <a:t>)</a:t>
            </a:r>
            <a:r>
              <a:rPr lang="ko-KR" altLang="en-US" sz="2400" dirty="0">
                <a:ln w="3175">
                  <a:solidFill>
                    <a:schemeClr val="tx1">
                      <a:lumMod val="65000"/>
                      <a:lumOff val="35000"/>
                      <a:alpha val="20000"/>
                    </a:schemeClr>
                  </a:solidFill>
                </a:ln>
                <a:latin typeface="넥슨Lv2고딕" panose="00000500000000000000" pitchFamily="2" charset="-127"/>
                <a:ea typeface="넥슨Lv2고딕" panose="00000500000000000000" pitchFamily="2" charset="-127"/>
                <a:sym typeface="Wingdings" panose="05000000000000000000" pitchFamily="2" charset="2"/>
              </a:rPr>
              <a:t>의</a:t>
            </a:r>
            <a:r>
              <a:rPr lang="en-US" altLang="ko-KR" sz="2400" dirty="0">
                <a:ln w="3175">
                  <a:solidFill>
                    <a:schemeClr val="tx1">
                      <a:lumMod val="65000"/>
                      <a:lumOff val="35000"/>
                      <a:alpha val="20000"/>
                    </a:schemeClr>
                  </a:solidFill>
                </a:ln>
                <a:latin typeface="넥슨Lv2고딕" panose="00000500000000000000" pitchFamily="2" charset="-127"/>
                <a:ea typeface="넥슨Lv2고딕" panose="00000500000000000000" pitchFamily="2" charset="-127"/>
                <a:sym typeface="Wingdings" panose="05000000000000000000" pitchFamily="2" charset="2"/>
              </a:rPr>
              <a:t> parameter update</a:t>
            </a:r>
            <a:r>
              <a:rPr lang="ko-KR" altLang="en-US" sz="2400" dirty="0">
                <a:ln w="3175">
                  <a:solidFill>
                    <a:schemeClr val="tx1">
                      <a:lumMod val="65000"/>
                      <a:lumOff val="35000"/>
                      <a:alpha val="20000"/>
                    </a:schemeClr>
                  </a:solidFill>
                </a:ln>
                <a:latin typeface="넥슨Lv2고딕" panose="00000500000000000000" pitchFamily="2" charset="-127"/>
                <a:ea typeface="넥슨Lv2고딕" panose="00000500000000000000" pitchFamily="2" charset="-127"/>
                <a:sym typeface="Wingdings" panose="05000000000000000000" pitchFamily="2" charset="2"/>
              </a:rPr>
              <a:t>로 새로운 태스크에 맞게 </a:t>
            </a:r>
            <a:r>
              <a:rPr lang="en-US" altLang="ko-KR" sz="2400" dirty="0">
                <a:ln w="3175">
                  <a:solidFill>
                    <a:schemeClr val="tx1">
                      <a:lumMod val="65000"/>
                      <a:lumOff val="35000"/>
                      <a:alpha val="20000"/>
                    </a:schemeClr>
                  </a:solidFill>
                </a:ln>
                <a:latin typeface="넥슨Lv2고딕" panose="00000500000000000000" pitchFamily="2" charset="-127"/>
                <a:ea typeface="넥슨Lv2고딕" panose="00000500000000000000" pitchFamily="2" charset="-127"/>
                <a:sym typeface="Wingdings" panose="05000000000000000000" pitchFamily="2" charset="2"/>
              </a:rPr>
              <a:t>tuning </a:t>
            </a:r>
            <a:r>
              <a:rPr lang="ko-KR" altLang="en-US" sz="2400" dirty="0">
                <a:ln w="3175">
                  <a:solidFill>
                    <a:schemeClr val="tx1">
                      <a:lumMod val="65000"/>
                      <a:lumOff val="35000"/>
                      <a:alpha val="20000"/>
                    </a:schemeClr>
                  </a:solidFill>
                </a:ln>
                <a:latin typeface="넥슨Lv2고딕" panose="00000500000000000000" pitchFamily="2" charset="-127"/>
                <a:ea typeface="넥슨Lv2고딕" panose="00000500000000000000" pitchFamily="2" charset="-127"/>
                <a:sym typeface="Wingdings" panose="05000000000000000000" pitchFamily="2" charset="2"/>
              </a:rPr>
              <a:t>가능 </a:t>
            </a:r>
            <a:endParaRPr lang="en-US" altLang="ko-KR" sz="2400" dirty="0">
              <a:ln w="3175">
                <a:solidFill>
                  <a:schemeClr val="tx1">
                    <a:lumMod val="65000"/>
                    <a:lumOff val="35000"/>
                    <a:alpha val="20000"/>
                  </a:schemeClr>
                </a:solidFill>
              </a:ln>
              <a:latin typeface="넥슨Lv2고딕" panose="00000500000000000000" pitchFamily="2" charset="-127"/>
              <a:ea typeface="넥슨Lv2고딕" panose="00000500000000000000" pitchFamily="2" charset="-127"/>
              <a:sym typeface="Wingdings" panose="05000000000000000000" pitchFamily="2" charset="2"/>
            </a:endParaRPr>
          </a:p>
        </p:txBody>
      </p:sp>
      <p:cxnSp>
        <p:nvCxnSpPr>
          <p:cNvPr id="21" name="직선 화살표 연결선 20">
            <a:extLst>
              <a:ext uri="{FF2B5EF4-FFF2-40B4-BE49-F238E27FC236}">
                <a16:creationId xmlns:a16="http://schemas.microsoft.com/office/drawing/2014/main" id="{151AAA29-B7CB-4B2D-8C84-A4AF6D740F3D}"/>
              </a:ext>
            </a:extLst>
          </p:cNvPr>
          <p:cNvCxnSpPr/>
          <p:nvPr/>
        </p:nvCxnSpPr>
        <p:spPr>
          <a:xfrm flipV="1">
            <a:off x="1839247" y="4820674"/>
            <a:ext cx="0" cy="1523922"/>
          </a:xfrm>
          <a:prstGeom prst="straightConnector1">
            <a:avLst/>
          </a:prstGeom>
          <a:ln w="57150">
            <a:solidFill>
              <a:srgbClr val="FC709D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타원 21">
            <a:extLst>
              <a:ext uri="{FF2B5EF4-FFF2-40B4-BE49-F238E27FC236}">
                <a16:creationId xmlns:a16="http://schemas.microsoft.com/office/drawing/2014/main" id="{D77615BB-EAD3-480C-BE95-4A8265C1AA0F}"/>
              </a:ext>
            </a:extLst>
          </p:cNvPr>
          <p:cNvSpPr/>
          <p:nvPr/>
        </p:nvSpPr>
        <p:spPr>
          <a:xfrm>
            <a:off x="1695255" y="4380296"/>
            <a:ext cx="287985" cy="287985"/>
          </a:xfrm>
          <a:prstGeom prst="ellipse">
            <a:avLst/>
          </a:prstGeom>
          <a:solidFill>
            <a:srgbClr val="FC709D"/>
          </a:solidFill>
          <a:ln>
            <a:solidFill>
              <a:srgbClr val="FC709D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360"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D5F49C59-B570-4199-BFD5-379E479E3E9B}"/>
              </a:ext>
            </a:extLst>
          </p:cNvPr>
          <p:cNvSpPr txBox="1"/>
          <p:nvPr/>
        </p:nvSpPr>
        <p:spPr>
          <a:xfrm>
            <a:off x="734404" y="6502122"/>
            <a:ext cx="2209686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ko-KR" sz="2400" spc="101" dirty="0">
                <a:ln w="3175">
                  <a:solidFill>
                    <a:srgbClr val="0044D6">
                      <a:alpha val="0"/>
                    </a:srgbClr>
                  </a:solidFill>
                </a:ln>
                <a:solidFill>
                  <a:srgbClr val="FC709D"/>
                </a:solidFill>
                <a:latin typeface="넥슨Lv2고딕 Medium" panose="00000600000000000000" pitchFamily="2" charset="-127"/>
                <a:ea typeface="넥슨Lv2고딕 Medium" panose="00000600000000000000" pitchFamily="2" charset="-127"/>
              </a:rPr>
              <a:t>Starting Point</a:t>
            </a:r>
            <a:endParaRPr lang="ko-KR" altLang="en-US" sz="2400" dirty="0">
              <a:solidFill>
                <a:srgbClr val="FC709D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085916846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eelOff"/>
      </p:transition>
    </mc:Choice>
    <mc:Fallback xmlns="">
      <p:transition spd="slow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" name="그룹 1001">
            <a:extLst>
              <a:ext uri="{FF2B5EF4-FFF2-40B4-BE49-F238E27FC236}">
                <a16:creationId xmlns:a16="http://schemas.microsoft.com/office/drawing/2014/main" id="{55CFA78B-DB81-400B-9995-9B2CE408C47A}"/>
              </a:ext>
            </a:extLst>
          </p:cNvPr>
          <p:cNvGrpSpPr/>
          <p:nvPr/>
        </p:nvGrpSpPr>
        <p:grpSpPr>
          <a:xfrm>
            <a:off x="777732" y="1641432"/>
            <a:ext cx="917523" cy="73244"/>
            <a:chOff x="1313068" y="2127719"/>
            <a:chExt cx="917569" cy="73247"/>
          </a:xfrm>
        </p:grpSpPr>
        <p:pic>
          <p:nvPicPr>
            <p:cNvPr id="17" name="Object 2">
              <a:extLst>
                <a:ext uri="{FF2B5EF4-FFF2-40B4-BE49-F238E27FC236}">
                  <a16:creationId xmlns:a16="http://schemas.microsoft.com/office/drawing/2014/main" id="{4286C98B-FE7D-4C87-BB68-11682AAF9A72}"/>
                </a:ext>
              </a:extLst>
            </p:cNvPr>
            <p:cNvPicPr>
              <a:picLocks noChangeAspect="1"/>
            </p:cNvPicPr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313068" y="2127719"/>
              <a:ext cx="917569" cy="73247"/>
            </a:xfrm>
            <a:prstGeom prst="rect">
              <a:avLst/>
            </a:prstGeom>
          </p:spPr>
        </p:pic>
      </p:grpSp>
      <p:sp>
        <p:nvSpPr>
          <p:cNvPr id="14" name="Object 31">
            <a:extLst>
              <a:ext uri="{FF2B5EF4-FFF2-40B4-BE49-F238E27FC236}">
                <a16:creationId xmlns:a16="http://schemas.microsoft.com/office/drawing/2014/main" id="{EBBA54AF-072B-4BA3-8A89-197ABB143051}"/>
              </a:ext>
            </a:extLst>
          </p:cNvPr>
          <p:cNvSpPr txBox="1"/>
          <p:nvPr/>
        </p:nvSpPr>
        <p:spPr>
          <a:xfrm>
            <a:off x="666784" y="574687"/>
            <a:ext cx="10458316" cy="671297"/>
          </a:xfrm>
          <a:prstGeom prst="rect">
            <a:avLst/>
          </a:prstGeom>
          <a:noFill/>
        </p:spPr>
        <p:txBody>
          <a:bodyPr wrap="square" rtlCol="0"/>
          <a:lstStyle/>
          <a:p>
            <a:pPr algn="just">
              <a:lnSpc>
                <a:spcPct val="130000"/>
              </a:lnSpc>
            </a:pPr>
            <a:r>
              <a:rPr lang="ko-KR" altLang="en-US" sz="3600" spc="101" dirty="0">
                <a:ln w="3175">
                  <a:solidFill>
                    <a:srgbClr val="0044D6">
                      <a:alpha val="0"/>
                    </a:srgbClr>
                  </a:solidFill>
                </a:ln>
                <a:solidFill>
                  <a:srgbClr val="1464E2"/>
                </a:solidFill>
                <a:latin typeface="넥슨Lv2고딕 Bold" panose="00000800000000000000" pitchFamily="2" charset="-127"/>
                <a:ea typeface="넥슨Lv2고딕 Bold" panose="00000800000000000000" pitchFamily="2" charset="-127"/>
              </a:rPr>
              <a:t>연구 방법론 </a:t>
            </a:r>
            <a:r>
              <a:rPr lang="en-US" altLang="ko-KR" sz="3600" spc="101" dirty="0">
                <a:ln w="3175">
                  <a:solidFill>
                    <a:srgbClr val="0044D6">
                      <a:alpha val="0"/>
                    </a:srgbClr>
                  </a:solidFill>
                </a:ln>
                <a:solidFill>
                  <a:srgbClr val="1464E2"/>
                </a:solidFill>
                <a:latin typeface="넥슨Lv2고딕 Bold" panose="00000800000000000000" pitchFamily="2" charset="-127"/>
                <a:ea typeface="넥슨Lv2고딕 Bold" panose="00000800000000000000" pitchFamily="2" charset="-127"/>
              </a:rPr>
              <a:t>– Meta Learning</a:t>
            </a:r>
            <a:endParaRPr lang="en-US" sz="3600" spc="101" dirty="0">
              <a:ln w="3175">
                <a:solidFill>
                  <a:srgbClr val="0044D6">
                    <a:alpha val="0"/>
                  </a:srgbClr>
                </a:solidFill>
              </a:ln>
              <a:solidFill>
                <a:srgbClr val="1464E2"/>
              </a:solidFill>
              <a:latin typeface="넥슨Lv2고딕 Bold" panose="00000800000000000000" pitchFamily="2" charset="-127"/>
              <a:ea typeface="넥슨Lv2고딕 Bold" panose="00000800000000000000" pitchFamily="2" charset="-127"/>
            </a:endParaRP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A14A244C-BF17-48B4-BE25-04CE3B233031}"/>
              </a:ext>
            </a:extLst>
          </p:cNvPr>
          <p:cNvSpPr/>
          <p:nvPr/>
        </p:nvSpPr>
        <p:spPr>
          <a:xfrm>
            <a:off x="467" y="9494778"/>
            <a:ext cx="18287066" cy="791959"/>
          </a:xfrm>
          <a:prstGeom prst="rect">
            <a:avLst/>
          </a:prstGeom>
          <a:solidFill>
            <a:srgbClr val="4E93F0">
              <a:alpha val="2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36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13B0CA46-05B6-4AEE-AF87-6FEA488C7381}"/>
              </a:ext>
            </a:extLst>
          </p:cNvPr>
          <p:cNvSpPr txBox="1"/>
          <p:nvPr/>
        </p:nvSpPr>
        <p:spPr>
          <a:xfrm>
            <a:off x="1161610" y="9532897"/>
            <a:ext cx="15906786" cy="599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</a:pPr>
            <a:r>
              <a:rPr lang="ko-KR" altLang="en-US" sz="2400" dirty="0">
                <a:ln w="3175">
                  <a:solidFill>
                    <a:schemeClr val="tx1">
                      <a:lumMod val="65000"/>
                      <a:lumOff val="35000"/>
                      <a:alpha val="20000"/>
                    </a:schemeClr>
                  </a:solidFill>
                </a:ln>
                <a:latin typeface="넥슨Lv2고딕" panose="00000500000000000000" pitchFamily="2" charset="-127"/>
                <a:ea typeface="넥슨Lv2고딕" panose="00000500000000000000" pitchFamily="2" charset="-127"/>
                <a:sym typeface="Wingdings" panose="05000000000000000000" pitchFamily="2" charset="2"/>
              </a:rPr>
              <a:t>메타러닝을 이용해 새로운 카메라에 빠르게 적응하기 위한 초기 파라미터 값을 학습</a:t>
            </a:r>
            <a:endParaRPr lang="en-US" altLang="ko-KR" sz="2400" dirty="0">
              <a:ln w="3175">
                <a:solidFill>
                  <a:schemeClr val="tx1">
                    <a:lumMod val="65000"/>
                    <a:lumOff val="35000"/>
                    <a:alpha val="20000"/>
                  </a:schemeClr>
                </a:solidFill>
              </a:ln>
              <a:latin typeface="넥슨Lv2고딕" panose="00000500000000000000" pitchFamily="2" charset="-127"/>
              <a:ea typeface="넥슨Lv2고딕" panose="00000500000000000000" pitchFamily="2" charset="-127"/>
              <a:sym typeface="Wingdings" panose="05000000000000000000" pitchFamily="2" charset="2"/>
            </a:endParaRPr>
          </a:p>
        </p:txBody>
      </p:sp>
      <p:pic>
        <p:nvPicPr>
          <p:cNvPr id="13" name="Picture 2">
            <a:extLst>
              <a:ext uri="{FF2B5EF4-FFF2-40B4-BE49-F238E27FC236}">
                <a16:creationId xmlns:a16="http://schemas.microsoft.com/office/drawing/2014/main" id="{9277E46F-9C93-4A79-9CE8-901755DEA38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3841" y="2781421"/>
            <a:ext cx="8765721" cy="429875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8" name="TextBox 17">
            <a:extLst>
              <a:ext uri="{FF2B5EF4-FFF2-40B4-BE49-F238E27FC236}">
                <a16:creationId xmlns:a16="http://schemas.microsoft.com/office/drawing/2014/main" id="{8188EB76-CF77-46C3-81B1-ECFEE6521AF5}"/>
              </a:ext>
            </a:extLst>
          </p:cNvPr>
          <p:cNvSpPr txBox="1"/>
          <p:nvPr/>
        </p:nvSpPr>
        <p:spPr>
          <a:xfrm>
            <a:off x="9524980" y="3498226"/>
            <a:ext cx="7543415" cy="22613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893" lvl="1" indent="-342893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2400" dirty="0">
                <a:ln w="3175">
                  <a:solidFill>
                    <a:schemeClr val="tx1">
                      <a:lumMod val="65000"/>
                      <a:lumOff val="35000"/>
                      <a:alpha val="20000"/>
                    </a:schemeClr>
                  </a:solidFill>
                </a:ln>
                <a:latin typeface="넥슨Lv2고딕" panose="00000500000000000000" pitchFamily="2" charset="-127"/>
                <a:ea typeface="넥슨Lv2고딕" panose="00000500000000000000" pitchFamily="2" charset="-127"/>
                <a:sym typeface="Wingdings" panose="05000000000000000000" pitchFamily="2" charset="2"/>
              </a:rPr>
              <a:t>태스크가 바뀌어도 최대한 빠르게</a:t>
            </a:r>
            <a:r>
              <a:rPr lang="en-US" altLang="ko-KR" sz="2400" dirty="0">
                <a:ln w="3175">
                  <a:solidFill>
                    <a:schemeClr val="tx1">
                      <a:lumMod val="65000"/>
                      <a:lumOff val="35000"/>
                      <a:alpha val="20000"/>
                    </a:schemeClr>
                  </a:solidFill>
                </a:ln>
                <a:latin typeface="넥슨Lv2고딕" panose="00000500000000000000" pitchFamily="2" charset="-127"/>
                <a:ea typeface="넥슨Lv2고딕" panose="00000500000000000000" pitchFamily="2" charset="-127"/>
                <a:sym typeface="Wingdings" panose="05000000000000000000" pitchFamily="2" charset="2"/>
              </a:rPr>
              <a:t> </a:t>
            </a:r>
            <a:r>
              <a:rPr lang="ko-KR" altLang="en-US" sz="2400" dirty="0">
                <a:ln w="3175">
                  <a:solidFill>
                    <a:schemeClr val="tx1">
                      <a:lumMod val="65000"/>
                      <a:lumOff val="35000"/>
                      <a:alpha val="20000"/>
                    </a:schemeClr>
                  </a:solidFill>
                </a:ln>
                <a:latin typeface="넥슨Lv2고딕" panose="00000500000000000000" pitchFamily="2" charset="-127"/>
                <a:ea typeface="넥슨Lv2고딕" panose="00000500000000000000" pitchFamily="2" charset="-127"/>
                <a:sym typeface="Wingdings" panose="05000000000000000000" pitchFamily="2" charset="2"/>
              </a:rPr>
              <a:t>적응이 가능하도록 최적의 초기값을 학습</a:t>
            </a:r>
            <a:endParaRPr lang="en-US" altLang="ko-KR" sz="2400" dirty="0">
              <a:ln w="3175">
                <a:solidFill>
                  <a:schemeClr val="tx1">
                    <a:lumMod val="65000"/>
                    <a:lumOff val="35000"/>
                    <a:alpha val="20000"/>
                  </a:schemeClr>
                </a:solidFill>
              </a:ln>
              <a:latin typeface="넥슨Lv2고딕" panose="00000500000000000000" pitchFamily="2" charset="-127"/>
              <a:ea typeface="넥슨Lv2고딕" panose="00000500000000000000" pitchFamily="2" charset="-127"/>
              <a:sym typeface="Wingdings" panose="05000000000000000000" pitchFamily="2" charset="2"/>
            </a:endParaRPr>
          </a:p>
          <a:p>
            <a:pPr marL="342893" lvl="1" indent="-342893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2400" dirty="0">
                <a:ln w="3175">
                  <a:solidFill>
                    <a:schemeClr val="tx1">
                      <a:lumMod val="65000"/>
                      <a:lumOff val="35000"/>
                      <a:alpha val="20000"/>
                    </a:schemeClr>
                  </a:solidFill>
                </a:ln>
                <a:latin typeface="넥슨Lv2고딕" panose="00000500000000000000" pitchFamily="2" charset="-127"/>
                <a:ea typeface="넥슨Lv2고딕" panose="00000500000000000000" pitchFamily="2" charset="-127"/>
                <a:sym typeface="Wingdings" panose="05000000000000000000" pitchFamily="2" charset="2"/>
              </a:rPr>
              <a:t>초기값이 잘 학습되면 몇</a:t>
            </a:r>
            <a:r>
              <a:rPr lang="en-US" altLang="ko-KR" sz="2400" dirty="0">
                <a:ln w="3175">
                  <a:solidFill>
                    <a:schemeClr val="tx1">
                      <a:lumMod val="65000"/>
                      <a:lumOff val="35000"/>
                      <a:alpha val="20000"/>
                    </a:schemeClr>
                  </a:solidFill>
                </a:ln>
                <a:latin typeface="넥슨Lv2고딕" panose="00000500000000000000" pitchFamily="2" charset="-127"/>
                <a:ea typeface="넥슨Lv2고딕" panose="00000500000000000000" pitchFamily="2" charset="-127"/>
                <a:sym typeface="Wingdings" panose="05000000000000000000" pitchFamily="2" charset="2"/>
              </a:rPr>
              <a:t> </a:t>
            </a:r>
            <a:r>
              <a:rPr lang="ko-KR" altLang="en-US" sz="2400" dirty="0">
                <a:ln w="3175">
                  <a:solidFill>
                    <a:schemeClr val="tx1">
                      <a:lumMod val="65000"/>
                      <a:lumOff val="35000"/>
                      <a:alpha val="20000"/>
                    </a:schemeClr>
                  </a:solidFill>
                </a:ln>
                <a:latin typeface="넥슨Lv2고딕" panose="00000500000000000000" pitchFamily="2" charset="-127"/>
                <a:ea typeface="넥슨Lv2고딕" panose="00000500000000000000" pitchFamily="2" charset="-127"/>
                <a:sym typeface="Wingdings" panose="05000000000000000000" pitchFamily="2" charset="2"/>
              </a:rPr>
              <a:t>번</a:t>
            </a:r>
            <a:r>
              <a:rPr lang="en-US" altLang="ko-KR" sz="2400" dirty="0">
                <a:ln w="3175">
                  <a:solidFill>
                    <a:schemeClr val="tx1">
                      <a:lumMod val="65000"/>
                      <a:lumOff val="35000"/>
                      <a:alpha val="20000"/>
                    </a:schemeClr>
                  </a:solidFill>
                </a:ln>
                <a:latin typeface="넥슨Lv2고딕" panose="00000500000000000000" pitchFamily="2" charset="-127"/>
                <a:ea typeface="넥슨Lv2고딕" panose="00000500000000000000" pitchFamily="2" charset="-127"/>
                <a:sym typeface="Wingdings" panose="05000000000000000000" pitchFamily="2" charset="2"/>
              </a:rPr>
              <a:t>(10</a:t>
            </a:r>
            <a:r>
              <a:rPr lang="ko-KR" altLang="en-US" sz="2400" dirty="0">
                <a:ln w="3175">
                  <a:solidFill>
                    <a:schemeClr val="tx1">
                      <a:lumMod val="65000"/>
                      <a:lumOff val="35000"/>
                      <a:alpha val="20000"/>
                    </a:schemeClr>
                  </a:solidFill>
                </a:ln>
                <a:latin typeface="넥슨Lv2고딕" panose="00000500000000000000" pitchFamily="2" charset="-127"/>
                <a:ea typeface="넥슨Lv2고딕" panose="00000500000000000000" pitchFamily="2" charset="-127"/>
                <a:sym typeface="Wingdings" panose="05000000000000000000" pitchFamily="2" charset="2"/>
              </a:rPr>
              <a:t>번 이하</a:t>
            </a:r>
            <a:r>
              <a:rPr lang="en-US" altLang="ko-KR" sz="2400" dirty="0">
                <a:ln w="3175">
                  <a:solidFill>
                    <a:schemeClr val="tx1">
                      <a:lumMod val="65000"/>
                      <a:lumOff val="35000"/>
                      <a:alpha val="20000"/>
                    </a:schemeClr>
                  </a:solidFill>
                </a:ln>
                <a:latin typeface="넥슨Lv2고딕" panose="00000500000000000000" pitchFamily="2" charset="-127"/>
                <a:ea typeface="넥슨Lv2고딕" panose="00000500000000000000" pitchFamily="2" charset="-127"/>
                <a:sym typeface="Wingdings" panose="05000000000000000000" pitchFamily="2" charset="2"/>
              </a:rPr>
              <a:t>)</a:t>
            </a:r>
            <a:r>
              <a:rPr lang="ko-KR" altLang="en-US" sz="2400" dirty="0">
                <a:ln w="3175">
                  <a:solidFill>
                    <a:schemeClr val="tx1">
                      <a:lumMod val="65000"/>
                      <a:lumOff val="35000"/>
                      <a:alpha val="20000"/>
                    </a:schemeClr>
                  </a:solidFill>
                </a:ln>
                <a:latin typeface="넥슨Lv2고딕" panose="00000500000000000000" pitchFamily="2" charset="-127"/>
                <a:ea typeface="넥슨Lv2고딕" panose="00000500000000000000" pitchFamily="2" charset="-127"/>
                <a:sym typeface="Wingdings" panose="05000000000000000000" pitchFamily="2" charset="2"/>
              </a:rPr>
              <a:t>의</a:t>
            </a:r>
            <a:r>
              <a:rPr lang="en-US" altLang="ko-KR" sz="2400" dirty="0">
                <a:ln w="3175">
                  <a:solidFill>
                    <a:schemeClr val="tx1">
                      <a:lumMod val="65000"/>
                      <a:lumOff val="35000"/>
                      <a:alpha val="20000"/>
                    </a:schemeClr>
                  </a:solidFill>
                </a:ln>
                <a:latin typeface="넥슨Lv2고딕" panose="00000500000000000000" pitchFamily="2" charset="-127"/>
                <a:ea typeface="넥슨Lv2고딕" panose="00000500000000000000" pitchFamily="2" charset="-127"/>
                <a:sym typeface="Wingdings" panose="05000000000000000000" pitchFamily="2" charset="2"/>
              </a:rPr>
              <a:t> parameter update</a:t>
            </a:r>
            <a:r>
              <a:rPr lang="ko-KR" altLang="en-US" sz="2400" dirty="0">
                <a:ln w="3175">
                  <a:solidFill>
                    <a:schemeClr val="tx1">
                      <a:lumMod val="65000"/>
                      <a:lumOff val="35000"/>
                      <a:alpha val="20000"/>
                    </a:schemeClr>
                  </a:solidFill>
                </a:ln>
                <a:latin typeface="넥슨Lv2고딕" panose="00000500000000000000" pitchFamily="2" charset="-127"/>
                <a:ea typeface="넥슨Lv2고딕" panose="00000500000000000000" pitchFamily="2" charset="-127"/>
                <a:sym typeface="Wingdings" panose="05000000000000000000" pitchFamily="2" charset="2"/>
              </a:rPr>
              <a:t>로 새로운 태스크에 맞게 </a:t>
            </a:r>
            <a:r>
              <a:rPr lang="en-US" altLang="ko-KR" sz="2400" dirty="0">
                <a:ln w="3175">
                  <a:solidFill>
                    <a:schemeClr val="tx1">
                      <a:lumMod val="65000"/>
                      <a:lumOff val="35000"/>
                      <a:alpha val="20000"/>
                    </a:schemeClr>
                  </a:solidFill>
                </a:ln>
                <a:latin typeface="넥슨Lv2고딕" panose="00000500000000000000" pitchFamily="2" charset="-127"/>
                <a:ea typeface="넥슨Lv2고딕" panose="00000500000000000000" pitchFamily="2" charset="-127"/>
                <a:sym typeface="Wingdings" panose="05000000000000000000" pitchFamily="2" charset="2"/>
              </a:rPr>
              <a:t>tuning </a:t>
            </a:r>
            <a:r>
              <a:rPr lang="ko-KR" altLang="en-US" sz="2400" dirty="0">
                <a:ln w="3175">
                  <a:solidFill>
                    <a:schemeClr val="tx1">
                      <a:lumMod val="65000"/>
                      <a:lumOff val="35000"/>
                      <a:alpha val="20000"/>
                    </a:schemeClr>
                  </a:solidFill>
                </a:ln>
                <a:latin typeface="넥슨Lv2고딕" panose="00000500000000000000" pitchFamily="2" charset="-127"/>
                <a:ea typeface="넥슨Lv2고딕" panose="00000500000000000000" pitchFamily="2" charset="-127"/>
                <a:sym typeface="Wingdings" panose="05000000000000000000" pitchFamily="2" charset="2"/>
              </a:rPr>
              <a:t>가능 </a:t>
            </a:r>
            <a:endParaRPr lang="en-US" altLang="ko-KR" sz="2400" dirty="0">
              <a:ln w="3175">
                <a:solidFill>
                  <a:schemeClr val="tx1">
                    <a:lumMod val="65000"/>
                    <a:lumOff val="35000"/>
                    <a:alpha val="20000"/>
                  </a:schemeClr>
                </a:solidFill>
              </a:ln>
              <a:latin typeface="넥슨Lv2고딕" panose="00000500000000000000" pitchFamily="2" charset="-127"/>
              <a:ea typeface="넥슨Lv2고딕" panose="00000500000000000000" pitchFamily="2" charset="-127"/>
              <a:sym typeface="Wingdings" panose="05000000000000000000" pitchFamily="2" charset="2"/>
            </a:endParaRPr>
          </a:p>
        </p:txBody>
      </p:sp>
      <p:cxnSp>
        <p:nvCxnSpPr>
          <p:cNvPr id="10" name="직선 화살표 연결선 9">
            <a:extLst>
              <a:ext uri="{FF2B5EF4-FFF2-40B4-BE49-F238E27FC236}">
                <a16:creationId xmlns:a16="http://schemas.microsoft.com/office/drawing/2014/main" id="{42BEBF0C-47E6-4203-AC40-EBF2FD4520E0}"/>
              </a:ext>
            </a:extLst>
          </p:cNvPr>
          <p:cNvCxnSpPr/>
          <p:nvPr/>
        </p:nvCxnSpPr>
        <p:spPr>
          <a:xfrm flipV="1">
            <a:off x="5298147" y="6241287"/>
            <a:ext cx="0" cy="1523922"/>
          </a:xfrm>
          <a:prstGeom prst="straightConnector1">
            <a:avLst/>
          </a:prstGeom>
          <a:ln w="57150">
            <a:solidFill>
              <a:srgbClr val="FC709D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타원 10">
            <a:extLst>
              <a:ext uri="{FF2B5EF4-FFF2-40B4-BE49-F238E27FC236}">
                <a16:creationId xmlns:a16="http://schemas.microsoft.com/office/drawing/2014/main" id="{C2DAF528-8A29-486F-9549-82D67B9821D0}"/>
              </a:ext>
            </a:extLst>
          </p:cNvPr>
          <p:cNvSpPr/>
          <p:nvPr/>
        </p:nvSpPr>
        <p:spPr>
          <a:xfrm>
            <a:off x="5154154" y="5800911"/>
            <a:ext cx="287985" cy="287985"/>
          </a:xfrm>
          <a:prstGeom prst="ellipse">
            <a:avLst/>
          </a:prstGeom>
          <a:solidFill>
            <a:srgbClr val="FC709D"/>
          </a:solidFill>
          <a:ln>
            <a:solidFill>
              <a:srgbClr val="FC709D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36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B918A8FD-3BE3-46B4-B85A-EE7B6655BD32}"/>
              </a:ext>
            </a:extLst>
          </p:cNvPr>
          <p:cNvSpPr txBox="1"/>
          <p:nvPr/>
        </p:nvSpPr>
        <p:spPr>
          <a:xfrm>
            <a:off x="4572234" y="7922737"/>
            <a:ext cx="2209686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2400" spc="101" dirty="0">
                <a:ln w="3175">
                  <a:solidFill>
                    <a:srgbClr val="0044D6">
                      <a:alpha val="0"/>
                    </a:srgbClr>
                  </a:solidFill>
                </a:ln>
                <a:solidFill>
                  <a:srgbClr val="FC709D"/>
                </a:solidFill>
                <a:latin typeface="넥슨Lv2고딕 Medium" panose="00000600000000000000" pitchFamily="2" charset="-127"/>
                <a:ea typeface="넥슨Lv2고딕 Medium" panose="00000600000000000000" pitchFamily="2" charset="-127"/>
              </a:rPr>
              <a:t>Our Goal</a:t>
            </a:r>
            <a:endParaRPr lang="ko-KR" altLang="en-US" sz="2400" dirty="0">
              <a:solidFill>
                <a:srgbClr val="FC709D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118660034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eelOff"/>
      </p:transition>
    </mc:Choice>
    <mc:Fallback xmlns="">
      <p:transition spd="slow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" name="그룹 1001">
            <a:extLst>
              <a:ext uri="{FF2B5EF4-FFF2-40B4-BE49-F238E27FC236}">
                <a16:creationId xmlns:a16="http://schemas.microsoft.com/office/drawing/2014/main" id="{55CFA78B-DB81-400B-9995-9B2CE408C47A}"/>
              </a:ext>
            </a:extLst>
          </p:cNvPr>
          <p:cNvGrpSpPr/>
          <p:nvPr/>
        </p:nvGrpSpPr>
        <p:grpSpPr>
          <a:xfrm>
            <a:off x="777732" y="1641432"/>
            <a:ext cx="917523" cy="73244"/>
            <a:chOff x="1313068" y="2127719"/>
            <a:chExt cx="917569" cy="73247"/>
          </a:xfrm>
        </p:grpSpPr>
        <p:pic>
          <p:nvPicPr>
            <p:cNvPr id="17" name="Object 2">
              <a:extLst>
                <a:ext uri="{FF2B5EF4-FFF2-40B4-BE49-F238E27FC236}">
                  <a16:creationId xmlns:a16="http://schemas.microsoft.com/office/drawing/2014/main" id="{4286C98B-FE7D-4C87-BB68-11682AAF9A72}"/>
                </a:ext>
              </a:extLst>
            </p:cNvPr>
            <p:cNvPicPr>
              <a:picLocks noChangeAspect="1"/>
            </p:cNvPicPr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313068" y="2127719"/>
              <a:ext cx="917569" cy="73247"/>
            </a:xfrm>
            <a:prstGeom prst="rect">
              <a:avLst/>
            </a:prstGeom>
          </p:spPr>
        </p:pic>
      </p:grpSp>
      <p:sp>
        <p:nvSpPr>
          <p:cNvPr id="14" name="Object 31">
            <a:extLst>
              <a:ext uri="{FF2B5EF4-FFF2-40B4-BE49-F238E27FC236}">
                <a16:creationId xmlns:a16="http://schemas.microsoft.com/office/drawing/2014/main" id="{EBBA54AF-072B-4BA3-8A89-197ABB143051}"/>
              </a:ext>
            </a:extLst>
          </p:cNvPr>
          <p:cNvSpPr txBox="1"/>
          <p:nvPr/>
        </p:nvSpPr>
        <p:spPr>
          <a:xfrm>
            <a:off x="666784" y="574687"/>
            <a:ext cx="15182474" cy="881604"/>
          </a:xfrm>
          <a:prstGeom prst="rect">
            <a:avLst/>
          </a:prstGeom>
          <a:noFill/>
        </p:spPr>
        <p:txBody>
          <a:bodyPr wrap="square" rtlCol="0"/>
          <a:lstStyle/>
          <a:p>
            <a:pPr algn="just">
              <a:lnSpc>
                <a:spcPct val="130000"/>
              </a:lnSpc>
            </a:pPr>
            <a:r>
              <a:rPr lang="ko-KR" altLang="en-US" sz="3600" spc="101" dirty="0">
                <a:ln w="3175">
                  <a:solidFill>
                    <a:srgbClr val="0044D6">
                      <a:alpha val="0"/>
                    </a:srgbClr>
                  </a:solidFill>
                </a:ln>
                <a:solidFill>
                  <a:srgbClr val="1464E2"/>
                </a:solidFill>
                <a:latin typeface="넥슨Lv2고딕 Bold" panose="00000800000000000000" pitchFamily="2" charset="-127"/>
                <a:ea typeface="넥슨Lv2고딕 Bold" panose="00000800000000000000" pitchFamily="2" charset="-127"/>
              </a:rPr>
              <a:t>구현 단계 </a:t>
            </a:r>
            <a:r>
              <a:rPr lang="en-US" altLang="ko-KR" sz="3600" spc="101" dirty="0">
                <a:ln w="3175">
                  <a:solidFill>
                    <a:srgbClr val="0044D6">
                      <a:alpha val="0"/>
                    </a:srgbClr>
                  </a:solidFill>
                </a:ln>
                <a:solidFill>
                  <a:srgbClr val="1464E2"/>
                </a:solidFill>
                <a:latin typeface="넥슨Lv2고딕 Bold" panose="00000800000000000000" pitchFamily="2" charset="-127"/>
                <a:ea typeface="넥슨Lv2고딕 Bold" panose="00000800000000000000" pitchFamily="2" charset="-127"/>
              </a:rPr>
              <a:t>1) </a:t>
            </a:r>
            <a:r>
              <a:rPr lang="ko-KR" altLang="en-US" sz="3600" spc="101" dirty="0">
                <a:ln w="3175">
                  <a:solidFill>
                    <a:srgbClr val="0044D6">
                      <a:alpha val="0"/>
                    </a:srgbClr>
                  </a:solidFill>
                </a:ln>
                <a:solidFill>
                  <a:srgbClr val="1464E2"/>
                </a:solidFill>
                <a:latin typeface="넥슨Lv2고딕 Bold" panose="00000800000000000000" pitchFamily="2" charset="-127"/>
                <a:ea typeface="넥슨Lv2고딕 Bold" panose="00000800000000000000" pitchFamily="2" charset="-127"/>
              </a:rPr>
              <a:t>카메라 별 데이터셋 준비</a:t>
            </a:r>
            <a:endParaRPr lang="en-US" sz="3600" spc="101" dirty="0">
              <a:ln w="3175">
                <a:solidFill>
                  <a:srgbClr val="0044D6">
                    <a:alpha val="0"/>
                  </a:srgbClr>
                </a:solidFill>
              </a:ln>
              <a:solidFill>
                <a:srgbClr val="1464E2"/>
              </a:solidFill>
              <a:latin typeface="넥슨Lv2고딕 Bold" panose="00000800000000000000" pitchFamily="2" charset="-127"/>
              <a:ea typeface="넥슨Lv2고딕 Bold" panose="00000800000000000000" pitchFamily="2" charset="-127"/>
            </a:endParaRPr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EAA7800A-FEEA-41A9-8AE1-E8B7D53D2026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l="20833" t="14444" r="7084" b="11449"/>
          <a:stretch/>
        </p:blipFill>
        <p:spPr>
          <a:xfrm>
            <a:off x="3181656" y="2239666"/>
            <a:ext cx="11924691" cy="6896011"/>
          </a:xfrm>
          <a:prstGeom prst="rect">
            <a:avLst/>
          </a:prstGeom>
        </p:spPr>
      </p:pic>
      <p:sp>
        <p:nvSpPr>
          <p:cNvPr id="5" name="직사각형 4">
            <a:extLst>
              <a:ext uri="{FF2B5EF4-FFF2-40B4-BE49-F238E27FC236}">
                <a16:creationId xmlns:a16="http://schemas.microsoft.com/office/drawing/2014/main" id="{E07EE3B9-54F2-4D27-BB6D-0D646BC2E837}"/>
              </a:ext>
            </a:extLst>
          </p:cNvPr>
          <p:cNvSpPr/>
          <p:nvPr/>
        </p:nvSpPr>
        <p:spPr>
          <a:xfrm>
            <a:off x="3810272" y="2263037"/>
            <a:ext cx="1219138" cy="457177"/>
          </a:xfrm>
          <a:prstGeom prst="rect">
            <a:avLst/>
          </a:prstGeom>
          <a:noFill/>
          <a:ln w="38100">
            <a:solidFill>
              <a:srgbClr val="FC709D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360"/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1E11917F-15E9-4F85-8189-642AFFF72FBB}"/>
              </a:ext>
            </a:extLst>
          </p:cNvPr>
          <p:cNvSpPr/>
          <p:nvPr/>
        </p:nvSpPr>
        <p:spPr>
          <a:xfrm>
            <a:off x="467" y="9494778"/>
            <a:ext cx="18287066" cy="791959"/>
          </a:xfrm>
          <a:prstGeom prst="rect">
            <a:avLst/>
          </a:prstGeom>
          <a:solidFill>
            <a:srgbClr val="4E93F0">
              <a:alpha val="2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36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48787ACF-2060-48BE-9C75-C30697D21632}"/>
              </a:ext>
            </a:extLst>
          </p:cNvPr>
          <p:cNvSpPr txBox="1"/>
          <p:nvPr/>
        </p:nvSpPr>
        <p:spPr>
          <a:xfrm>
            <a:off x="1161610" y="9532897"/>
            <a:ext cx="15906786" cy="599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</a:pPr>
            <a:r>
              <a:rPr lang="ko-KR" altLang="en-US" sz="2400" dirty="0">
                <a:ln w="3175">
                  <a:solidFill>
                    <a:schemeClr val="tx1">
                      <a:lumMod val="65000"/>
                      <a:lumOff val="35000"/>
                      <a:alpha val="20000"/>
                    </a:schemeClr>
                  </a:solidFill>
                </a:ln>
                <a:latin typeface="넥슨Lv2고딕" panose="00000500000000000000" pitchFamily="2" charset="-127"/>
                <a:ea typeface="넥슨Lv2고딕" panose="00000500000000000000" pitchFamily="2" charset="-127"/>
                <a:sym typeface="Wingdings" panose="05000000000000000000" pitchFamily="2" charset="2"/>
              </a:rPr>
              <a:t>각 카메라 마다 </a:t>
            </a:r>
            <a:r>
              <a:rPr lang="en-US" altLang="ko-KR" sz="2400" dirty="0" err="1">
                <a:ln w="3175">
                  <a:solidFill>
                    <a:schemeClr val="tx1">
                      <a:lumMod val="65000"/>
                      <a:lumOff val="35000"/>
                      <a:alpha val="20000"/>
                    </a:schemeClr>
                  </a:solidFill>
                </a:ln>
                <a:latin typeface="넥슨Lv2고딕" panose="00000500000000000000" pitchFamily="2" charset="-127"/>
                <a:ea typeface="넥슨Lv2고딕" panose="00000500000000000000" pitchFamily="2" charset="-127"/>
                <a:sym typeface="Wingdings" panose="05000000000000000000" pitchFamily="2" charset="2"/>
              </a:rPr>
              <a:t>PyTorch</a:t>
            </a:r>
            <a:r>
              <a:rPr lang="en-US" altLang="ko-KR" sz="2400" dirty="0">
                <a:ln w="3175">
                  <a:solidFill>
                    <a:schemeClr val="tx1">
                      <a:lumMod val="65000"/>
                      <a:lumOff val="35000"/>
                      <a:alpha val="20000"/>
                    </a:schemeClr>
                  </a:solidFill>
                </a:ln>
                <a:latin typeface="넥슨Lv2고딕" panose="00000500000000000000" pitchFamily="2" charset="-127"/>
                <a:ea typeface="넥슨Lv2고딕" panose="00000500000000000000" pitchFamily="2" charset="-127"/>
                <a:sym typeface="Wingdings" panose="05000000000000000000" pitchFamily="2" charset="2"/>
              </a:rPr>
              <a:t> Custom </a:t>
            </a:r>
            <a:r>
              <a:rPr lang="ko-KR" altLang="en-US" sz="2400" dirty="0">
                <a:ln w="3175">
                  <a:solidFill>
                    <a:schemeClr val="tx1">
                      <a:lumMod val="65000"/>
                      <a:lumOff val="35000"/>
                      <a:alpha val="20000"/>
                    </a:schemeClr>
                  </a:solidFill>
                </a:ln>
                <a:latin typeface="넥슨Lv2고딕" panose="00000500000000000000" pitchFamily="2" charset="-127"/>
                <a:ea typeface="넥슨Lv2고딕" panose="00000500000000000000" pitchFamily="2" charset="-127"/>
                <a:sym typeface="Wingdings" panose="05000000000000000000" pitchFamily="2" charset="2"/>
              </a:rPr>
              <a:t>데이터셋 준비</a:t>
            </a:r>
            <a:endParaRPr lang="en-US" altLang="ko-KR" sz="2400" dirty="0">
              <a:ln w="3175">
                <a:solidFill>
                  <a:schemeClr val="tx1">
                    <a:lumMod val="65000"/>
                    <a:lumOff val="35000"/>
                    <a:alpha val="20000"/>
                  </a:schemeClr>
                </a:solidFill>
              </a:ln>
              <a:latin typeface="넥슨Lv2고딕" panose="00000500000000000000" pitchFamily="2" charset="-127"/>
              <a:ea typeface="넥슨Lv2고딕" panose="00000500000000000000" pitchFamily="2" charset="-127"/>
              <a:sym typeface="Wingdings" panose="05000000000000000000" pitchFamily="2" charset="2"/>
            </a:endParaRPr>
          </a:p>
        </p:txBody>
      </p:sp>
    </p:spTree>
    <p:extLst>
      <p:ext uri="{BB962C8B-B14F-4D97-AF65-F5344CB8AC3E}">
        <p14:creationId xmlns:p14="http://schemas.microsoft.com/office/powerpoint/2010/main" val="3928130889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eelOff"/>
      </p:transition>
    </mc:Choice>
    <mc:Fallback xmlns="">
      <p:transition spd="slow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" name="그룹 1001">
            <a:extLst>
              <a:ext uri="{FF2B5EF4-FFF2-40B4-BE49-F238E27FC236}">
                <a16:creationId xmlns:a16="http://schemas.microsoft.com/office/drawing/2014/main" id="{55CFA78B-DB81-400B-9995-9B2CE408C47A}"/>
              </a:ext>
            </a:extLst>
          </p:cNvPr>
          <p:cNvGrpSpPr/>
          <p:nvPr/>
        </p:nvGrpSpPr>
        <p:grpSpPr>
          <a:xfrm>
            <a:off x="777732" y="1641432"/>
            <a:ext cx="917523" cy="73244"/>
            <a:chOff x="1313068" y="2127719"/>
            <a:chExt cx="917569" cy="73247"/>
          </a:xfrm>
        </p:grpSpPr>
        <p:pic>
          <p:nvPicPr>
            <p:cNvPr id="17" name="Object 2">
              <a:extLst>
                <a:ext uri="{FF2B5EF4-FFF2-40B4-BE49-F238E27FC236}">
                  <a16:creationId xmlns:a16="http://schemas.microsoft.com/office/drawing/2014/main" id="{4286C98B-FE7D-4C87-BB68-11682AAF9A72}"/>
                </a:ext>
              </a:extLst>
            </p:cNvPr>
            <p:cNvPicPr>
              <a:picLocks noChangeAspect="1"/>
            </p:cNvPicPr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313068" y="2127719"/>
              <a:ext cx="917569" cy="73247"/>
            </a:xfrm>
            <a:prstGeom prst="rect">
              <a:avLst/>
            </a:prstGeom>
          </p:spPr>
        </p:pic>
      </p:grpSp>
      <p:sp>
        <p:nvSpPr>
          <p:cNvPr id="14" name="Object 31">
            <a:extLst>
              <a:ext uri="{FF2B5EF4-FFF2-40B4-BE49-F238E27FC236}">
                <a16:creationId xmlns:a16="http://schemas.microsoft.com/office/drawing/2014/main" id="{EBBA54AF-072B-4BA3-8A89-197ABB143051}"/>
              </a:ext>
            </a:extLst>
          </p:cNvPr>
          <p:cNvSpPr txBox="1"/>
          <p:nvPr/>
        </p:nvSpPr>
        <p:spPr>
          <a:xfrm>
            <a:off x="666784" y="574687"/>
            <a:ext cx="15182474" cy="881604"/>
          </a:xfrm>
          <a:prstGeom prst="rect">
            <a:avLst/>
          </a:prstGeom>
          <a:noFill/>
        </p:spPr>
        <p:txBody>
          <a:bodyPr wrap="square" rtlCol="0"/>
          <a:lstStyle/>
          <a:p>
            <a:pPr algn="just">
              <a:lnSpc>
                <a:spcPct val="130000"/>
              </a:lnSpc>
            </a:pPr>
            <a:r>
              <a:rPr lang="ko-KR" altLang="en-US" sz="3600" spc="101" dirty="0">
                <a:ln w="3175">
                  <a:solidFill>
                    <a:srgbClr val="0044D6">
                      <a:alpha val="0"/>
                    </a:srgbClr>
                  </a:solidFill>
                </a:ln>
                <a:solidFill>
                  <a:srgbClr val="1464E2"/>
                </a:solidFill>
                <a:latin typeface="넥슨Lv2고딕 Bold" panose="00000800000000000000" pitchFamily="2" charset="-127"/>
                <a:ea typeface="넥슨Lv2고딕 Bold" panose="00000800000000000000" pitchFamily="2" charset="-127"/>
              </a:rPr>
              <a:t>구현 단계 </a:t>
            </a:r>
            <a:r>
              <a:rPr lang="en-US" altLang="ko-KR" sz="3600" spc="101" dirty="0">
                <a:ln w="3175">
                  <a:solidFill>
                    <a:srgbClr val="0044D6">
                      <a:alpha val="0"/>
                    </a:srgbClr>
                  </a:solidFill>
                </a:ln>
                <a:solidFill>
                  <a:srgbClr val="1464E2"/>
                </a:solidFill>
                <a:latin typeface="넥슨Lv2고딕 Bold" panose="00000800000000000000" pitchFamily="2" charset="-127"/>
                <a:ea typeface="넥슨Lv2고딕 Bold" panose="00000800000000000000" pitchFamily="2" charset="-127"/>
              </a:rPr>
              <a:t>2) </a:t>
            </a:r>
            <a:r>
              <a:rPr lang="ko-KR" altLang="en-US" sz="3600" spc="101" dirty="0">
                <a:ln w="3175">
                  <a:solidFill>
                    <a:srgbClr val="0044D6">
                      <a:alpha val="0"/>
                    </a:srgbClr>
                  </a:solidFill>
                </a:ln>
                <a:solidFill>
                  <a:srgbClr val="1464E2"/>
                </a:solidFill>
                <a:latin typeface="넥슨Lv2고딕 Bold" panose="00000800000000000000" pitchFamily="2" charset="-127"/>
                <a:ea typeface="넥슨Lv2고딕 Bold" panose="00000800000000000000" pitchFamily="2" charset="-127"/>
              </a:rPr>
              <a:t>메타러닝 알고리즘 구현</a:t>
            </a:r>
            <a:endParaRPr lang="en-US" sz="3600" spc="101" dirty="0">
              <a:ln w="3175">
                <a:solidFill>
                  <a:srgbClr val="0044D6">
                    <a:alpha val="0"/>
                  </a:srgbClr>
                </a:solidFill>
              </a:ln>
              <a:solidFill>
                <a:srgbClr val="1464E2"/>
              </a:solidFill>
              <a:latin typeface="넥슨Lv2고딕 Bold" panose="00000800000000000000" pitchFamily="2" charset="-127"/>
              <a:ea typeface="넥슨Lv2고딕 Bold" panose="00000800000000000000" pitchFamily="2" charset="-127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EF64413-D4BF-4E60-86C2-168A28D37FF6}"/>
              </a:ext>
            </a:extLst>
          </p:cNvPr>
          <p:cNvSpPr txBox="1"/>
          <p:nvPr/>
        </p:nvSpPr>
        <p:spPr>
          <a:xfrm>
            <a:off x="11658472" y="3924362"/>
            <a:ext cx="5790905" cy="39233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7462" lvl="1">
              <a:lnSpc>
                <a:spcPct val="150000"/>
              </a:lnSpc>
            </a:pPr>
            <a:r>
              <a:rPr lang="ko-KR" altLang="en-US" sz="2400" dirty="0">
                <a:ln w="3175">
                  <a:solidFill>
                    <a:schemeClr val="tx1">
                      <a:lumMod val="65000"/>
                      <a:lumOff val="35000"/>
                      <a:alpha val="20000"/>
                    </a:schemeClr>
                  </a:solidFill>
                </a:ln>
                <a:latin typeface="넥슨Lv2고딕" panose="00000500000000000000" pitchFamily="2" charset="-127"/>
                <a:ea typeface="넥슨Lv2고딕" panose="00000500000000000000" pitchFamily="2" charset="-127"/>
                <a:sym typeface="Wingdings" panose="05000000000000000000" pitchFamily="2" charset="2"/>
              </a:rPr>
              <a:t>먼저 </a:t>
            </a:r>
            <a:r>
              <a:rPr lang="en-US" altLang="ko-KR" sz="2400" dirty="0">
                <a:ln w="3175">
                  <a:solidFill>
                    <a:schemeClr val="tx1">
                      <a:lumMod val="65000"/>
                      <a:lumOff val="35000"/>
                      <a:alpha val="20000"/>
                    </a:schemeClr>
                  </a:solidFill>
                </a:ln>
                <a:latin typeface="넥슨Lv2고딕" panose="00000500000000000000" pitchFamily="2" charset="-127"/>
                <a:ea typeface="넥슨Lv2고딕" panose="00000500000000000000" pitchFamily="2" charset="-127"/>
                <a:sym typeface="Wingdings" panose="05000000000000000000" pitchFamily="2" charset="2"/>
              </a:rPr>
              <a:t>1</a:t>
            </a:r>
            <a:r>
              <a:rPr lang="ko-KR" altLang="en-US" sz="2400" dirty="0">
                <a:ln w="3175">
                  <a:solidFill>
                    <a:schemeClr val="tx1">
                      <a:lumMod val="65000"/>
                      <a:lumOff val="35000"/>
                      <a:alpha val="20000"/>
                    </a:schemeClr>
                  </a:solidFill>
                </a:ln>
                <a:latin typeface="넥슨Lv2고딕" panose="00000500000000000000" pitchFamily="2" charset="-127"/>
                <a:ea typeface="넥슨Lv2고딕" panose="00000500000000000000" pitchFamily="2" charset="-127"/>
                <a:sym typeface="Wingdings" panose="05000000000000000000" pitchFamily="2" charset="2"/>
              </a:rPr>
              <a:t>개 카메라에 대해 파라미터를 업데이트</a:t>
            </a:r>
            <a:endParaRPr lang="en-US" altLang="ko-KR" sz="2400" dirty="0">
              <a:ln w="3175">
                <a:solidFill>
                  <a:schemeClr val="tx1">
                    <a:lumMod val="65000"/>
                    <a:lumOff val="35000"/>
                    <a:alpha val="20000"/>
                  </a:schemeClr>
                </a:solidFill>
              </a:ln>
              <a:latin typeface="넥슨Lv2고딕" panose="00000500000000000000" pitchFamily="2" charset="-127"/>
              <a:ea typeface="넥슨Lv2고딕" panose="00000500000000000000" pitchFamily="2" charset="-127"/>
              <a:sym typeface="Wingdings" panose="05000000000000000000" pitchFamily="2" charset="2"/>
            </a:endParaRPr>
          </a:p>
          <a:p>
            <a:pPr marL="17462" lvl="1">
              <a:lnSpc>
                <a:spcPct val="150000"/>
              </a:lnSpc>
            </a:pPr>
            <a:endParaRPr lang="en-US" altLang="ko-KR" sz="2400" dirty="0">
              <a:ln w="3175">
                <a:solidFill>
                  <a:schemeClr val="tx1">
                    <a:lumMod val="65000"/>
                    <a:lumOff val="35000"/>
                    <a:alpha val="20000"/>
                  </a:schemeClr>
                </a:solidFill>
              </a:ln>
              <a:latin typeface="넥슨Lv2고딕" panose="00000500000000000000" pitchFamily="2" charset="-127"/>
              <a:ea typeface="넥슨Lv2고딕" panose="00000500000000000000" pitchFamily="2" charset="-127"/>
              <a:sym typeface="Wingdings" panose="05000000000000000000" pitchFamily="2" charset="2"/>
            </a:endParaRPr>
          </a:p>
          <a:p>
            <a:pPr marL="17462" lvl="1">
              <a:lnSpc>
                <a:spcPct val="150000"/>
              </a:lnSpc>
            </a:pPr>
            <a:endParaRPr lang="en-US" altLang="ko-KR" sz="2400" dirty="0">
              <a:ln w="3175">
                <a:solidFill>
                  <a:schemeClr val="tx1">
                    <a:lumMod val="65000"/>
                    <a:lumOff val="35000"/>
                    <a:alpha val="20000"/>
                  </a:schemeClr>
                </a:solidFill>
              </a:ln>
              <a:latin typeface="넥슨Lv2고딕" panose="00000500000000000000" pitchFamily="2" charset="-127"/>
              <a:ea typeface="넥슨Lv2고딕" panose="00000500000000000000" pitchFamily="2" charset="-127"/>
              <a:sym typeface="Wingdings" panose="05000000000000000000" pitchFamily="2" charset="2"/>
            </a:endParaRPr>
          </a:p>
          <a:p>
            <a:pPr marL="17462" lvl="1">
              <a:lnSpc>
                <a:spcPct val="150000"/>
              </a:lnSpc>
            </a:pPr>
            <a:r>
              <a:rPr lang="ko-KR" altLang="en-US" sz="2400" dirty="0">
                <a:ln w="3175">
                  <a:solidFill>
                    <a:schemeClr val="tx1">
                      <a:lumMod val="65000"/>
                      <a:lumOff val="35000"/>
                      <a:alpha val="20000"/>
                    </a:schemeClr>
                  </a:solidFill>
                </a:ln>
                <a:latin typeface="넥슨Lv2고딕" panose="00000500000000000000" pitchFamily="2" charset="-127"/>
                <a:ea typeface="넥슨Lv2고딕" panose="00000500000000000000" pitchFamily="2" charset="-127"/>
                <a:sym typeface="Wingdings" panose="05000000000000000000" pitchFamily="2" charset="2"/>
              </a:rPr>
              <a:t>나머지 카메라에 대해 얼마나 잘 동작하는지 파악하기 위해 각각 손실을 계산하여 누적</a:t>
            </a:r>
            <a:endParaRPr lang="en-US" altLang="ko-KR" sz="2400" dirty="0">
              <a:ln w="3175">
                <a:solidFill>
                  <a:schemeClr val="tx1">
                    <a:lumMod val="65000"/>
                    <a:lumOff val="35000"/>
                    <a:alpha val="20000"/>
                  </a:schemeClr>
                </a:solidFill>
              </a:ln>
              <a:latin typeface="넥슨Lv2고딕" panose="00000500000000000000" pitchFamily="2" charset="-127"/>
              <a:ea typeface="넥슨Lv2고딕" panose="00000500000000000000" pitchFamily="2" charset="-127"/>
              <a:sym typeface="Wingdings" panose="05000000000000000000" pitchFamily="2" charset="2"/>
            </a:endParaRPr>
          </a:p>
          <a:p>
            <a:pPr marL="17462" lvl="1">
              <a:lnSpc>
                <a:spcPct val="150000"/>
              </a:lnSpc>
            </a:pPr>
            <a:endParaRPr lang="en-US" altLang="ko-KR" sz="2400" dirty="0">
              <a:ln w="3175">
                <a:solidFill>
                  <a:schemeClr val="tx1">
                    <a:lumMod val="65000"/>
                    <a:lumOff val="35000"/>
                    <a:alpha val="20000"/>
                  </a:schemeClr>
                </a:solidFill>
              </a:ln>
              <a:latin typeface="넥슨Lv2고딕" panose="00000500000000000000" pitchFamily="2" charset="-127"/>
              <a:ea typeface="넥슨Lv2고딕" panose="00000500000000000000" pitchFamily="2" charset="-127"/>
              <a:sym typeface="Wingdings" panose="05000000000000000000" pitchFamily="2" charset="2"/>
            </a:endParaRPr>
          </a:p>
          <a:p>
            <a:pPr marL="17462" lvl="1">
              <a:lnSpc>
                <a:spcPct val="150000"/>
              </a:lnSpc>
            </a:pPr>
            <a:r>
              <a:rPr lang="ko-KR" altLang="en-US" sz="2400" dirty="0">
                <a:ln w="3175">
                  <a:solidFill>
                    <a:schemeClr val="tx1">
                      <a:lumMod val="65000"/>
                      <a:lumOff val="35000"/>
                      <a:alpha val="20000"/>
                    </a:schemeClr>
                  </a:solidFill>
                </a:ln>
                <a:latin typeface="넥슨Lv2고딕" panose="00000500000000000000" pitchFamily="2" charset="-127"/>
                <a:ea typeface="넥슨Lv2고딕" panose="00000500000000000000" pitchFamily="2" charset="-127"/>
                <a:sym typeface="Wingdings" panose="05000000000000000000" pitchFamily="2" charset="2"/>
              </a:rPr>
              <a:t>모든 손실 값을 결합해 최종 업데이트</a:t>
            </a:r>
            <a:endParaRPr lang="en-US" altLang="ko-KR" sz="2400" dirty="0">
              <a:ln w="3175">
                <a:solidFill>
                  <a:schemeClr val="tx1">
                    <a:lumMod val="65000"/>
                    <a:lumOff val="35000"/>
                    <a:alpha val="20000"/>
                  </a:schemeClr>
                </a:solidFill>
              </a:ln>
              <a:latin typeface="넥슨Lv2고딕" panose="00000500000000000000" pitchFamily="2" charset="-127"/>
              <a:ea typeface="넥슨Lv2고딕" panose="00000500000000000000" pitchFamily="2" charset="-127"/>
              <a:sym typeface="Wingdings" panose="05000000000000000000" pitchFamily="2" charset="2"/>
            </a:endParaRPr>
          </a:p>
        </p:txBody>
      </p:sp>
      <p:pic>
        <p:nvPicPr>
          <p:cNvPr id="8" name="그림 7">
            <a:extLst>
              <a:ext uri="{FF2B5EF4-FFF2-40B4-BE49-F238E27FC236}">
                <a16:creationId xmlns:a16="http://schemas.microsoft.com/office/drawing/2014/main" id="{30E47DDB-626D-48F7-9653-521DAF6618B4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l="25080" t="11887" r="9982" b="3353"/>
          <a:stretch/>
        </p:blipFill>
        <p:spPr>
          <a:xfrm>
            <a:off x="729283" y="2400441"/>
            <a:ext cx="9151068" cy="6718728"/>
          </a:xfrm>
          <a:prstGeom prst="rect">
            <a:avLst/>
          </a:prstGeom>
        </p:spPr>
      </p:pic>
      <p:cxnSp>
        <p:nvCxnSpPr>
          <p:cNvPr id="9" name="직선 화살표 연결선 8">
            <a:extLst>
              <a:ext uri="{FF2B5EF4-FFF2-40B4-BE49-F238E27FC236}">
                <a16:creationId xmlns:a16="http://schemas.microsoft.com/office/drawing/2014/main" id="{4BF71AAB-044A-452B-80EC-A4F729536ABE}"/>
              </a:ext>
            </a:extLst>
          </p:cNvPr>
          <p:cNvCxnSpPr>
            <a:cxnSpLocks/>
          </p:cNvCxnSpPr>
          <p:nvPr/>
        </p:nvCxnSpPr>
        <p:spPr>
          <a:xfrm>
            <a:off x="4800823" y="4275365"/>
            <a:ext cx="6645468" cy="0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3" name="직선 화살표 연결선 12">
            <a:extLst>
              <a:ext uri="{FF2B5EF4-FFF2-40B4-BE49-F238E27FC236}">
                <a16:creationId xmlns:a16="http://schemas.microsoft.com/office/drawing/2014/main" id="{44A5F2E7-3236-4568-8966-114C9768CEA3}"/>
              </a:ext>
            </a:extLst>
          </p:cNvPr>
          <p:cNvCxnSpPr>
            <a:cxnSpLocks/>
          </p:cNvCxnSpPr>
          <p:nvPr/>
        </p:nvCxnSpPr>
        <p:spPr>
          <a:xfrm flipV="1">
            <a:off x="7162902" y="5973254"/>
            <a:ext cx="4283388" cy="906651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5" name="직선 화살표 연결선 14">
            <a:extLst>
              <a:ext uri="{FF2B5EF4-FFF2-40B4-BE49-F238E27FC236}">
                <a16:creationId xmlns:a16="http://schemas.microsoft.com/office/drawing/2014/main" id="{62989EC0-B30A-492F-85F2-39BCA2D1CDC0}"/>
              </a:ext>
            </a:extLst>
          </p:cNvPr>
          <p:cNvCxnSpPr>
            <a:cxnSpLocks/>
          </p:cNvCxnSpPr>
          <p:nvPr/>
        </p:nvCxnSpPr>
        <p:spPr>
          <a:xfrm>
            <a:off x="8153451" y="7603349"/>
            <a:ext cx="3292839" cy="0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8" name="직사각형 17">
            <a:extLst>
              <a:ext uri="{FF2B5EF4-FFF2-40B4-BE49-F238E27FC236}">
                <a16:creationId xmlns:a16="http://schemas.microsoft.com/office/drawing/2014/main" id="{17FF5281-4348-4263-97BF-5BB0C86F41B3}"/>
              </a:ext>
            </a:extLst>
          </p:cNvPr>
          <p:cNvSpPr/>
          <p:nvPr/>
        </p:nvSpPr>
        <p:spPr>
          <a:xfrm>
            <a:off x="467" y="9494778"/>
            <a:ext cx="18287066" cy="791959"/>
          </a:xfrm>
          <a:prstGeom prst="rect">
            <a:avLst/>
          </a:prstGeom>
          <a:solidFill>
            <a:srgbClr val="4E93F0">
              <a:alpha val="2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360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0B8FCA53-D79B-43E7-A212-0A7B98160501}"/>
              </a:ext>
            </a:extLst>
          </p:cNvPr>
          <p:cNvSpPr txBox="1"/>
          <p:nvPr/>
        </p:nvSpPr>
        <p:spPr>
          <a:xfrm>
            <a:off x="1161610" y="9532896"/>
            <a:ext cx="15906786" cy="59054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</a:pPr>
            <a:r>
              <a:rPr lang="ko-KR" altLang="en-US" sz="2400" dirty="0" err="1">
                <a:ln w="3175">
                  <a:solidFill>
                    <a:schemeClr val="tx1">
                      <a:lumMod val="65000"/>
                      <a:lumOff val="35000"/>
                      <a:alpha val="20000"/>
                    </a:schemeClr>
                  </a:solidFill>
                </a:ln>
                <a:latin typeface="넥슨Lv2고딕" panose="00000500000000000000" pitchFamily="2" charset="-127"/>
                <a:ea typeface="넥슨Lv2고딕" panose="00000500000000000000" pitchFamily="2" charset="-127"/>
                <a:sym typeface="Wingdings" panose="05000000000000000000" pitchFamily="2" charset="2"/>
              </a:rPr>
              <a:t>테스팅할</a:t>
            </a:r>
            <a:r>
              <a:rPr lang="ko-KR" altLang="en-US" sz="2400" dirty="0">
                <a:ln w="3175">
                  <a:solidFill>
                    <a:schemeClr val="tx1">
                      <a:lumMod val="65000"/>
                      <a:lumOff val="35000"/>
                      <a:alpha val="20000"/>
                    </a:schemeClr>
                  </a:solidFill>
                </a:ln>
                <a:latin typeface="넥슨Lv2고딕" panose="00000500000000000000" pitchFamily="2" charset="-127"/>
                <a:ea typeface="넥슨Lv2고딕" panose="00000500000000000000" pitchFamily="2" charset="-127"/>
                <a:sym typeface="Wingdings" panose="05000000000000000000" pitchFamily="2" charset="2"/>
              </a:rPr>
              <a:t> 카메라는 제외하고 나머지 카메라로만 모델을 훈련시킴</a:t>
            </a:r>
            <a:endParaRPr lang="en-US" altLang="ko-KR" sz="2400" dirty="0">
              <a:ln w="3175">
                <a:solidFill>
                  <a:schemeClr val="tx1">
                    <a:lumMod val="65000"/>
                    <a:lumOff val="35000"/>
                    <a:alpha val="20000"/>
                  </a:schemeClr>
                </a:solidFill>
              </a:ln>
              <a:latin typeface="넥슨Lv2고딕" panose="00000500000000000000" pitchFamily="2" charset="-127"/>
              <a:ea typeface="넥슨Lv2고딕" panose="00000500000000000000" pitchFamily="2" charset="-127"/>
              <a:sym typeface="Wingdings" panose="05000000000000000000" pitchFamily="2" charset="2"/>
            </a:endParaRPr>
          </a:p>
        </p:txBody>
      </p:sp>
    </p:spTree>
    <p:extLst>
      <p:ext uri="{BB962C8B-B14F-4D97-AF65-F5344CB8AC3E}">
        <p14:creationId xmlns:p14="http://schemas.microsoft.com/office/powerpoint/2010/main" val="2345415766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eelOff"/>
      </p:transition>
    </mc:Choice>
    <mc:Fallback xmlns="">
      <p:transition spd="slow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" name="그룹 1001">
            <a:extLst>
              <a:ext uri="{FF2B5EF4-FFF2-40B4-BE49-F238E27FC236}">
                <a16:creationId xmlns:a16="http://schemas.microsoft.com/office/drawing/2014/main" id="{55CFA78B-DB81-400B-9995-9B2CE408C47A}"/>
              </a:ext>
            </a:extLst>
          </p:cNvPr>
          <p:cNvGrpSpPr/>
          <p:nvPr/>
        </p:nvGrpSpPr>
        <p:grpSpPr>
          <a:xfrm>
            <a:off x="777732" y="1641432"/>
            <a:ext cx="917523" cy="73244"/>
            <a:chOff x="1313068" y="2127719"/>
            <a:chExt cx="917569" cy="73247"/>
          </a:xfrm>
        </p:grpSpPr>
        <p:pic>
          <p:nvPicPr>
            <p:cNvPr id="17" name="Object 2">
              <a:extLst>
                <a:ext uri="{FF2B5EF4-FFF2-40B4-BE49-F238E27FC236}">
                  <a16:creationId xmlns:a16="http://schemas.microsoft.com/office/drawing/2014/main" id="{4286C98B-FE7D-4C87-BB68-11682AAF9A72}"/>
                </a:ext>
              </a:extLst>
            </p:cNvPr>
            <p:cNvPicPr>
              <a:picLocks noChangeAspect="1"/>
            </p:cNvPicPr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313068" y="2127719"/>
              <a:ext cx="917569" cy="73247"/>
            </a:xfrm>
            <a:prstGeom prst="rect">
              <a:avLst/>
            </a:prstGeom>
          </p:spPr>
        </p:pic>
      </p:grpSp>
      <p:sp>
        <p:nvSpPr>
          <p:cNvPr id="14" name="Object 31">
            <a:extLst>
              <a:ext uri="{FF2B5EF4-FFF2-40B4-BE49-F238E27FC236}">
                <a16:creationId xmlns:a16="http://schemas.microsoft.com/office/drawing/2014/main" id="{EBBA54AF-072B-4BA3-8A89-197ABB143051}"/>
              </a:ext>
            </a:extLst>
          </p:cNvPr>
          <p:cNvSpPr txBox="1"/>
          <p:nvPr/>
        </p:nvSpPr>
        <p:spPr>
          <a:xfrm>
            <a:off x="666784" y="574687"/>
            <a:ext cx="15182474" cy="881604"/>
          </a:xfrm>
          <a:prstGeom prst="rect">
            <a:avLst/>
          </a:prstGeom>
          <a:noFill/>
        </p:spPr>
        <p:txBody>
          <a:bodyPr wrap="square" rtlCol="0"/>
          <a:lstStyle/>
          <a:p>
            <a:pPr algn="just">
              <a:lnSpc>
                <a:spcPct val="130000"/>
              </a:lnSpc>
            </a:pPr>
            <a:r>
              <a:rPr lang="en-US" sz="3600" spc="101" dirty="0">
                <a:ln w="3175">
                  <a:solidFill>
                    <a:srgbClr val="0044D6">
                      <a:alpha val="0"/>
                    </a:srgbClr>
                  </a:solidFill>
                </a:ln>
                <a:solidFill>
                  <a:srgbClr val="1464E2"/>
                </a:solidFill>
                <a:latin typeface="넥슨Lv2고딕 Bold" panose="00000800000000000000" pitchFamily="2" charset="-127"/>
                <a:ea typeface="넥슨Lv2고딕 Bold" panose="00000800000000000000" pitchFamily="2" charset="-127"/>
              </a:rPr>
              <a:t>Training</a:t>
            </a:r>
            <a:r>
              <a:rPr lang="ko-KR" altLang="en-US" sz="3600" spc="101" dirty="0">
                <a:ln w="3175">
                  <a:solidFill>
                    <a:srgbClr val="0044D6">
                      <a:alpha val="0"/>
                    </a:srgbClr>
                  </a:solidFill>
                </a:ln>
                <a:solidFill>
                  <a:srgbClr val="1464E2"/>
                </a:solidFill>
                <a:latin typeface="넥슨Lv2고딕 Bold" panose="00000800000000000000" pitchFamily="2" charset="-127"/>
                <a:ea typeface="넥슨Lv2고딕 Bold" panose="00000800000000000000" pitchFamily="2" charset="-127"/>
              </a:rPr>
              <a:t> </a:t>
            </a:r>
            <a:r>
              <a:rPr lang="en-US" altLang="ko-KR" sz="3600" spc="101" dirty="0">
                <a:ln w="3175">
                  <a:solidFill>
                    <a:srgbClr val="0044D6">
                      <a:alpha val="0"/>
                    </a:srgbClr>
                  </a:solidFill>
                </a:ln>
                <a:solidFill>
                  <a:srgbClr val="1464E2"/>
                </a:solidFill>
                <a:latin typeface="넥슨Lv2고딕 Bold" panose="00000800000000000000" pitchFamily="2" charset="-127"/>
                <a:ea typeface="넥슨Lv2고딕 Bold" panose="00000800000000000000" pitchFamily="2" charset="-127"/>
              </a:rPr>
              <a:t>Condition</a:t>
            </a:r>
            <a:endParaRPr lang="en-US" sz="3600" spc="101" dirty="0">
              <a:ln w="3175">
                <a:solidFill>
                  <a:srgbClr val="0044D6">
                    <a:alpha val="0"/>
                  </a:srgbClr>
                </a:solidFill>
              </a:ln>
              <a:solidFill>
                <a:srgbClr val="1464E2"/>
              </a:solidFill>
              <a:latin typeface="넥슨Lv2고딕 Bold" panose="00000800000000000000" pitchFamily="2" charset="-127"/>
              <a:ea typeface="넥슨Lv2고딕 Bold" panose="00000800000000000000" pitchFamily="2" charset="-127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8530330-0DCA-4D53-9365-748598E006F4}"/>
              </a:ext>
            </a:extLst>
          </p:cNvPr>
          <p:cNvSpPr txBox="1"/>
          <p:nvPr/>
        </p:nvSpPr>
        <p:spPr>
          <a:xfrm>
            <a:off x="777731" y="2476636"/>
            <a:ext cx="15604898" cy="39233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893" lvl="3" indent="-342893">
              <a:lnSpc>
                <a:spcPct val="150000"/>
              </a:lnSpc>
              <a:buFont typeface="넥슨Lv2고딕" panose="020B0600000101010101" charset="-127"/>
              <a:buChar char="−"/>
            </a:pPr>
            <a:r>
              <a:rPr lang="en-US" altLang="ko-KR" sz="2400" dirty="0">
                <a:ln w="3175">
                  <a:solidFill>
                    <a:schemeClr val="tx1">
                      <a:lumMod val="65000"/>
                      <a:lumOff val="35000"/>
                      <a:alpha val="20000"/>
                    </a:schemeClr>
                  </a:solidFill>
                </a:ln>
                <a:latin typeface="넥슨Lv2고딕" panose="00000500000000000000" pitchFamily="2" charset="-127"/>
                <a:ea typeface="넥슨Lv2고딕" panose="00000500000000000000" pitchFamily="2" charset="-127"/>
                <a:sym typeface="Wingdings" panose="05000000000000000000" pitchFamily="2" charset="2"/>
              </a:rPr>
              <a:t>Meta update learning rate : 0.0001</a:t>
            </a:r>
          </a:p>
          <a:p>
            <a:pPr marL="342893" lvl="3" indent="-342893">
              <a:lnSpc>
                <a:spcPct val="150000"/>
              </a:lnSpc>
              <a:buFont typeface="넥슨Lv2고딕" panose="020B0600000101010101" charset="-127"/>
              <a:buChar char="−"/>
            </a:pPr>
            <a:r>
              <a:rPr lang="en-US" altLang="ko-KR" sz="2400" dirty="0">
                <a:ln w="3175">
                  <a:solidFill>
                    <a:schemeClr val="tx1">
                      <a:lumMod val="65000"/>
                      <a:lumOff val="35000"/>
                      <a:alpha val="20000"/>
                    </a:schemeClr>
                  </a:solidFill>
                </a:ln>
                <a:latin typeface="넥슨Lv2고딕" panose="00000500000000000000" pitchFamily="2" charset="-127"/>
                <a:ea typeface="넥슨Lv2고딕" panose="00000500000000000000" pitchFamily="2" charset="-127"/>
                <a:sym typeface="Wingdings" panose="05000000000000000000" pitchFamily="2" charset="2"/>
              </a:rPr>
              <a:t>Inner update learning rate : 0.000001</a:t>
            </a:r>
          </a:p>
          <a:p>
            <a:pPr marL="342893" lvl="3" indent="-342893">
              <a:lnSpc>
                <a:spcPct val="150000"/>
              </a:lnSpc>
              <a:buFont typeface="넥슨Lv2고딕" panose="020B0600000101010101" charset="-127"/>
              <a:buChar char="−"/>
            </a:pPr>
            <a:r>
              <a:rPr lang="en-US" altLang="ko-KR" sz="2400" dirty="0">
                <a:ln w="3175">
                  <a:solidFill>
                    <a:schemeClr val="tx1">
                      <a:lumMod val="65000"/>
                      <a:lumOff val="35000"/>
                      <a:alpha val="20000"/>
                    </a:schemeClr>
                  </a:solidFill>
                </a:ln>
                <a:latin typeface="넥슨Lv2고딕" panose="00000500000000000000" pitchFamily="2" charset="-127"/>
                <a:ea typeface="넥슨Lv2고딕" panose="00000500000000000000" pitchFamily="2" charset="-127"/>
                <a:sym typeface="Wingdings" panose="05000000000000000000" pitchFamily="2" charset="2"/>
              </a:rPr>
              <a:t>Learning rate decay: x0.8 per 40 epoch</a:t>
            </a:r>
          </a:p>
          <a:p>
            <a:pPr marL="342893" lvl="3" indent="-342893">
              <a:lnSpc>
                <a:spcPct val="150000"/>
              </a:lnSpc>
              <a:buFont typeface="넥슨Lv2고딕" panose="020B0600000101010101" charset="-127"/>
              <a:buChar char="−"/>
            </a:pPr>
            <a:endParaRPr lang="en-US" altLang="ko-KR" sz="2400" dirty="0">
              <a:ln w="3175">
                <a:solidFill>
                  <a:schemeClr val="tx1">
                    <a:lumMod val="65000"/>
                    <a:lumOff val="35000"/>
                    <a:alpha val="20000"/>
                  </a:schemeClr>
                </a:solidFill>
              </a:ln>
              <a:latin typeface="넥슨Lv2고딕" panose="00000500000000000000" pitchFamily="2" charset="-127"/>
              <a:ea typeface="넥슨Lv2고딕" panose="00000500000000000000" pitchFamily="2" charset="-127"/>
              <a:sym typeface="Wingdings" panose="05000000000000000000" pitchFamily="2" charset="2"/>
            </a:endParaRPr>
          </a:p>
          <a:p>
            <a:pPr marL="342893" lvl="3" indent="-342893">
              <a:lnSpc>
                <a:spcPct val="150000"/>
              </a:lnSpc>
              <a:buFont typeface="넥슨Lv2고딕" panose="020B0600000101010101" charset="-127"/>
              <a:buChar char="−"/>
            </a:pPr>
            <a:r>
              <a:rPr lang="en-US" altLang="ko-KR" sz="2400" dirty="0">
                <a:ln w="3175">
                  <a:solidFill>
                    <a:schemeClr val="tx1">
                      <a:lumMod val="65000"/>
                      <a:lumOff val="35000"/>
                      <a:alpha val="20000"/>
                    </a:schemeClr>
                  </a:solidFill>
                </a:ln>
                <a:latin typeface="넥슨Lv2고딕" panose="00000500000000000000" pitchFamily="2" charset="-127"/>
                <a:ea typeface="넥슨Lv2고딕" panose="00000500000000000000" pitchFamily="2" charset="-127"/>
                <a:sym typeface="Wingdings" panose="05000000000000000000" pitchFamily="2" charset="2"/>
              </a:rPr>
              <a:t>Batch size = 5 </a:t>
            </a:r>
          </a:p>
          <a:p>
            <a:pPr marL="342893" lvl="3" indent="-342893">
              <a:lnSpc>
                <a:spcPct val="150000"/>
              </a:lnSpc>
              <a:buFont typeface="넥슨Lv2고딕" panose="020B0600000101010101" charset="-127"/>
              <a:buChar char="−"/>
            </a:pPr>
            <a:r>
              <a:rPr lang="en-US" altLang="ko-KR" sz="2400" dirty="0">
                <a:ln w="3175">
                  <a:solidFill>
                    <a:schemeClr val="tx1">
                      <a:lumMod val="65000"/>
                      <a:lumOff val="35000"/>
                      <a:alpha val="20000"/>
                    </a:schemeClr>
                  </a:solidFill>
                </a:ln>
                <a:latin typeface="넥슨Lv2고딕" panose="00000500000000000000" pitchFamily="2" charset="-127"/>
                <a:ea typeface="넥슨Lv2고딕" panose="00000500000000000000" pitchFamily="2" charset="-127"/>
                <a:sym typeface="Wingdings" panose="05000000000000000000" pitchFamily="2" charset="2"/>
              </a:rPr>
              <a:t>Epochs : 300</a:t>
            </a:r>
          </a:p>
          <a:p>
            <a:pPr marL="342893" lvl="3" indent="-342893">
              <a:lnSpc>
                <a:spcPct val="150000"/>
              </a:lnSpc>
              <a:buFont typeface="넥슨Lv2고딕" panose="020B0600000101010101" charset="-127"/>
              <a:buChar char="−"/>
            </a:pPr>
            <a:r>
              <a:rPr lang="en-US" altLang="ko-KR" sz="2400" dirty="0">
                <a:ln w="3175">
                  <a:solidFill>
                    <a:schemeClr val="tx1">
                      <a:lumMod val="65000"/>
                      <a:lumOff val="35000"/>
                      <a:alpha val="20000"/>
                    </a:schemeClr>
                  </a:solidFill>
                </a:ln>
                <a:latin typeface="넥슨Lv2고딕" panose="00000500000000000000" pitchFamily="2" charset="-127"/>
                <a:ea typeface="넥슨Lv2고딕" panose="00000500000000000000" pitchFamily="2" charset="-127"/>
                <a:sym typeface="Wingdings" panose="05000000000000000000" pitchFamily="2" charset="2"/>
              </a:rPr>
              <a:t>Optimizer: Adam</a:t>
            </a:r>
          </a:p>
        </p:txBody>
      </p:sp>
    </p:spTree>
    <p:extLst>
      <p:ext uri="{BB962C8B-B14F-4D97-AF65-F5344CB8AC3E}">
        <p14:creationId xmlns:p14="http://schemas.microsoft.com/office/powerpoint/2010/main" val="3835045343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eelOff"/>
      </p:transition>
    </mc:Choice>
    <mc:Fallback xmlns="">
      <p:transition spd="slow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" name="그룹 1001">
            <a:extLst>
              <a:ext uri="{FF2B5EF4-FFF2-40B4-BE49-F238E27FC236}">
                <a16:creationId xmlns:a16="http://schemas.microsoft.com/office/drawing/2014/main" id="{55CFA78B-DB81-400B-9995-9B2CE408C47A}"/>
              </a:ext>
            </a:extLst>
          </p:cNvPr>
          <p:cNvGrpSpPr/>
          <p:nvPr/>
        </p:nvGrpSpPr>
        <p:grpSpPr>
          <a:xfrm>
            <a:off x="777732" y="1641432"/>
            <a:ext cx="917523" cy="73244"/>
            <a:chOff x="1313068" y="2127719"/>
            <a:chExt cx="917569" cy="73247"/>
          </a:xfrm>
        </p:grpSpPr>
        <p:pic>
          <p:nvPicPr>
            <p:cNvPr id="17" name="Object 2">
              <a:extLst>
                <a:ext uri="{FF2B5EF4-FFF2-40B4-BE49-F238E27FC236}">
                  <a16:creationId xmlns:a16="http://schemas.microsoft.com/office/drawing/2014/main" id="{4286C98B-FE7D-4C87-BB68-11682AAF9A72}"/>
                </a:ext>
              </a:extLst>
            </p:cNvPr>
            <p:cNvPicPr>
              <a:picLocks noChangeAspect="1"/>
            </p:cNvPicPr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313068" y="2127719"/>
              <a:ext cx="917569" cy="73247"/>
            </a:xfrm>
            <a:prstGeom prst="rect">
              <a:avLst/>
            </a:prstGeom>
          </p:spPr>
        </p:pic>
      </p:grpSp>
      <p:sp>
        <p:nvSpPr>
          <p:cNvPr id="14" name="Object 31">
            <a:extLst>
              <a:ext uri="{FF2B5EF4-FFF2-40B4-BE49-F238E27FC236}">
                <a16:creationId xmlns:a16="http://schemas.microsoft.com/office/drawing/2014/main" id="{EBBA54AF-072B-4BA3-8A89-197ABB143051}"/>
              </a:ext>
            </a:extLst>
          </p:cNvPr>
          <p:cNvSpPr txBox="1"/>
          <p:nvPr/>
        </p:nvSpPr>
        <p:spPr>
          <a:xfrm>
            <a:off x="590434" y="571734"/>
            <a:ext cx="10458316" cy="671297"/>
          </a:xfrm>
          <a:prstGeom prst="rect">
            <a:avLst/>
          </a:prstGeom>
          <a:noFill/>
        </p:spPr>
        <p:txBody>
          <a:bodyPr wrap="square" rtlCol="0"/>
          <a:lstStyle/>
          <a:p>
            <a:pPr algn="just">
              <a:lnSpc>
                <a:spcPct val="130000"/>
              </a:lnSpc>
            </a:pPr>
            <a:r>
              <a:rPr lang="ko-KR" altLang="en-US" sz="3600" spc="101" dirty="0">
                <a:ln w="3175">
                  <a:solidFill>
                    <a:srgbClr val="0044D6">
                      <a:alpha val="0"/>
                    </a:srgbClr>
                  </a:solidFill>
                </a:ln>
                <a:solidFill>
                  <a:srgbClr val="1464E2"/>
                </a:solidFill>
                <a:latin typeface="넥슨Lv2고딕 Bold" panose="00000800000000000000" pitchFamily="2" charset="-127"/>
                <a:ea typeface="넥슨Lv2고딕 Bold" panose="00000800000000000000" pitchFamily="2" charset="-127"/>
              </a:rPr>
              <a:t>모델 성능 </a:t>
            </a:r>
            <a:r>
              <a:rPr lang="en-US" altLang="ko-KR" sz="3600" spc="101" dirty="0">
                <a:ln w="3175">
                  <a:solidFill>
                    <a:srgbClr val="0044D6">
                      <a:alpha val="0"/>
                    </a:srgbClr>
                  </a:solidFill>
                </a:ln>
                <a:solidFill>
                  <a:srgbClr val="1464E2"/>
                </a:solidFill>
                <a:latin typeface="넥슨Lv2고딕 Bold" panose="00000800000000000000" pitchFamily="2" charset="-127"/>
                <a:ea typeface="넥슨Lv2고딕 Bold" panose="00000800000000000000" pitchFamily="2" charset="-127"/>
              </a:rPr>
              <a:t>– Pre-trained model(General model)</a:t>
            </a:r>
            <a:endParaRPr lang="en-US" sz="3600" spc="101" dirty="0">
              <a:ln w="3175">
                <a:solidFill>
                  <a:srgbClr val="0044D6">
                    <a:alpha val="0"/>
                  </a:srgbClr>
                </a:solidFill>
              </a:ln>
              <a:solidFill>
                <a:srgbClr val="1464E2"/>
              </a:solidFill>
              <a:latin typeface="넥슨Lv2고딕 Bold" panose="00000800000000000000" pitchFamily="2" charset="-127"/>
              <a:ea typeface="넥슨Lv2고딕 Bold" panose="00000800000000000000" pitchFamily="2" charset="-127"/>
            </a:endParaRPr>
          </a:p>
        </p:txBody>
      </p:sp>
      <p:sp>
        <p:nvSpPr>
          <p:cNvPr id="18" name="직사각형 17">
            <a:extLst>
              <a:ext uri="{FF2B5EF4-FFF2-40B4-BE49-F238E27FC236}">
                <a16:creationId xmlns:a16="http://schemas.microsoft.com/office/drawing/2014/main" id="{8025F720-11F6-4456-9B3A-6D461CE85D35}"/>
              </a:ext>
            </a:extLst>
          </p:cNvPr>
          <p:cNvSpPr/>
          <p:nvPr/>
        </p:nvSpPr>
        <p:spPr>
          <a:xfrm>
            <a:off x="467" y="9494778"/>
            <a:ext cx="18287066" cy="791959"/>
          </a:xfrm>
          <a:prstGeom prst="rect">
            <a:avLst/>
          </a:prstGeom>
          <a:solidFill>
            <a:srgbClr val="4E93F0">
              <a:alpha val="2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360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61CBC52B-D530-4BB4-9350-CBC3E3034A00}"/>
              </a:ext>
            </a:extLst>
          </p:cNvPr>
          <p:cNvSpPr txBox="1"/>
          <p:nvPr/>
        </p:nvSpPr>
        <p:spPr>
          <a:xfrm>
            <a:off x="467" y="9532897"/>
            <a:ext cx="18287066" cy="599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</a:pPr>
            <a:r>
              <a:rPr lang="ko-KR" altLang="en-US" sz="2400" dirty="0">
                <a:ln w="3175">
                  <a:solidFill>
                    <a:schemeClr val="tx1">
                      <a:lumMod val="65000"/>
                      <a:lumOff val="35000"/>
                      <a:alpha val="20000"/>
                    </a:schemeClr>
                  </a:solidFill>
                </a:ln>
                <a:latin typeface="넥슨Lv2고딕" panose="00000500000000000000" pitchFamily="2" charset="-127"/>
                <a:ea typeface="넥슨Lv2고딕" panose="00000500000000000000" pitchFamily="2" charset="-127"/>
                <a:sym typeface="Wingdings" panose="05000000000000000000" pitchFamily="2" charset="2"/>
              </a:rPr>
              <a:t>본 연구의 </a:t>
            </a:r>
            <a:r>
              <a:rPr lang="en-US" altLang="ko-KR" sz="2400" dirty="0">
                <a:ln w="3175">
                  <a:solidFill>
                    <a:schemeClr val="tx1">
                      <a:lumMod val="65000"/>
                      <a:lumOff val="35000"/>
                      <a:alpha val="20000"/>
                    </a:schemeClr>
                  </a:solidFill>
                </a:ln>
                <a:latin typeface="넥슨Lv2고딕" panose="00000500000000000000" pitchFamily="2" charset="-127"/>
                <a:ea typeface="넥슨Lv2고딕" panose="00000500000000000000" pitchFamily="2" charset="-127"/>
                <a:sym typeface="Wingdings" panose="05000000000000000000" pitchFamily="2" charset="2"/>
              </a:rPr>
              <a:t>pre-trained </a:t>
            </a:r>
            <a:r>
              <a:rPr lang="ko-KR" altLang="en-US" sz="2400" dirty="0">
                <a:ln w="3175">
                  <a:solidFill>
                    <a:schemeClr val="tx1">
                      <a:lumMod val="65000"/>
                      <a:lumOff val="35000"/>
                      <a:alpha val="20000"/>
                    </a:schemeClr>
                  </a:solidFill>
                </a:ln>
                <a:latin typeface="넥슨Lv2고딕" panose="00000500000000000000" pitchFamily="2" charset="-127"/>
                <a:ea typeface="넥슨Lv2고딕" panose="00000500000000000000" pitchFamily="2" charset="-127"/>
                <a:sym typeface="Wingdings" panose="05000000000000000000" pitchFamily="2" charset="2"/>
              </a:rPr>
              <a:t>모델이 이전의</a:t>
            </a:r>
            <a:r>
              <a:rPr lang="en-US" altLang="ko-KR" sz="2400" dirty="0">
                <a:ln w="3175">
                  <a:solidFill>
                    <a:schemeClr val="tx1">
                      <a:lumMod val="65000"/>
                      <a:lumOff val="35000"/>
                      <a:alpha val="20000"/>
                    </a:schemeClr>
                  </a:solidFill>
                </a:ln>
                <a:latin typeface="넥슨Lv2고딕" panose="00000500000000000000" pitchFamily="2" charset="-127"/>
                <a:ea typeface="넥슨Lv2고딕" panose="00000500000000000000" pitchFamily="2" charset="-127"/>
                <a:sym typeface="Wingdings" panose="05000000000000000000" pitchFamily="2" charset="2"/>
              </a:rPr>
              <a:t> </a:t>
            </a:r>
            <a:r>
              <a:rPr lang="ko-KR" altLang="en-US" sz="2400" dirty="0">
                <a:ln w="3175">
                  <a:solidFill>
                    <a:schemeClr val="tx1">
                      <a:lumMod val="65000"/>
                      <a:lumOff val="35000"/>
                      <a:alpha val="20000"/>
                    </a:schemeClr>
                  </a:solidFill>
                </a:ln>
                <a:latin typeface="넥슨Lv2고딕" panose="00000500000000000000" pitchFamily="2" charset="-127"/>
                <a:ea typeface="넥슨Lv2고딕" panose="00000500000000000000" pitchFamily="2" charset="-127"/>
                <a:sym typeface="Wingdings" panose="05000000000000000000" pitchFamily="2" charset="2"/>
              </a:rPr>
              <a:t>연구에 비해 전체적으로 향상된 성능을 보여줌</a:t>
            </a:r>
            <a:endParaRPr lang="en-US" altLang="ko-KR" sz="2400" dirty="0">
              <a:ln w="3175">
                <a:solidFill>
                  <a:schemeClr val="tx1">
                    <a:lumMod val="65000"/>
                    <a:lumOff val="35000"/>
                    <a:alpha val="20000"/>
                  </a:schemeClr>
                </a:solidFill>
              </a:ln>
              <a:latin typeface="넥슨Lv2고딕" panose="00000500000000000000" pitchFamily="2" charset="-127"/>
              <a:ea typeface="넥슨Lv2고딕" panose="00000500000000000000" pitchFamily="2" charset="-127"/>
              <a:sym typeface="Wingdings" panose="05000000000000000000" pitchFamily="2" charset="2"/>
            </a:endParaRPr>
          </a:p>
        </p:txBody>
      </p:sp>
      <p:graphicFrame>
        <p:nvGraphicFramePr>
          <p:cNvPr id="2" name="표 2">
            <a:extLst>
              <a:ext uri="{FF2B5EF4-FFF2-40B4-BE49-F238E27FC236}">
                <a16:creationId xmlns:a16="http://schemas.microsoft.com/office/drawing/2014/main" id="{6B064264-7E46-4B65-9B39-6132E608F040}"/>
              </a:ext>
            </a:extLst>
          </p:cNvPr>
          <p:cNvGraphicFramePr>
            <a:graphicFrameLocks noGrp="1"/>
          </p:cNvGraphicFramePr>
          <p:nvPr/>
        </p:nvGraphicFramePr>
        <p:xfrm>
          <a:off x="765131" y="2561047"/>
          <a:ext cx="16663450" cy="5615721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799909">
                  <a:extLst>
                    <a:ext uri="{9D8B030D-6E8A-4147-A177-3AD203B41FA5}">
                      <a16:colId xmlns:a16="http://schemas.microsoft.com/office/drawing/2014/main" val="214269441"/>
                    </a:ext>
                  </a:extLst>
                </a:gridCol>
                <a:gridCol w="2055596">
                  <a:extLst>
                    <a:ext uri="{9D8B030D-6E8A-4147-A177-3AD203B41FA5}">
                      <a16:colId xmlns:a16="http://schemas.microsoft.com/office/drawing/2014/main" val="3168559618"/>
                    </a:ext>
                  </a:extLst>
                </a:gridCol>
                <a:gridCol w="1423105">
                  <a:extLst>
                    <a:ext uri="{9D8B030D-6E8A-4147-A177-3AD203B41FA5}">
                      <a16:colId xmlns:a16="http://schemas.microsoft.com/office/drawing/2014/main" val="4407882"/>
                    </a:ext>
                  </a:extLst>
                </a:gridCol>
                <a:gridCol w="1423105">
                  <a:extLst>
                    <a:ext uri="{9D8B030D-6E8A-4147-A177-3AD203B41FA5}">
                      <a16:colId xmlns:a16="http://schemas.microsoft.com/office/drawing/2014/main" val="751690204"/>
                    </a:ext>
                  </a:extLst>
                </a:gridCol>
                <a:gridCol w="1423105">
                  <a:extLst>
                    <a:ext uri="{9D8B030D-6E8A-4147-A177-3AD203B41FA5}">
                      <a16:colId xmlns:a16="http://schemas.microsoft.com/office/drawing/2014/main" val="1116907594"/>
                    </a:ext>
                  </a:extLst>
                </a:gridCol>
                <a:gridCol w="1423105">
                  <a:extLst>
                    <a:ext uri="{9D8B030D-6E8A-4147-A177-3AD203B41FA5}">
                      <a16:colId xmlns:a16="http://schemas.microsoft.com/office/drawing/2014/main" val="4285086731"/>
                    </a:ext>
                  </a:extLst>
                </a:gridCol>
                <a:gridCol w="1423105">
                  <a:extLst>
                    <a:ext uri="{9D8B030D-6E8A-4147-A177-3AD203B41FA5}">
                      <a16:colId xmlns:a16="http://schemas.microsoft.com/office/drawing/2014/main" val="3243427900"/>
                    </a:ext>
                  </a:extLst>
                </a:gridCol>
                <a:gridCol w="1423105">
                  <a:extLst>
                    <a:ext uri="{9D8B030D-6E8A-4147-A177-3AD203B41FA5}">
                      <a16:colId xmlns:a16="http://schemas.microsoft.com/office/drawing/2014/main" val="3431096400"/>
                    </a:ext>
                  </a:extLst>
                </a:gridCol>
                <a:gridCol w="1423105">
                  <a:extLst>
                    <a:ext uri="{9D8B030D-6E8A-4147-A177-3AD203B41FA5}">
                      <a16:colId xmlns:a16="http://schemas.microsoft.com/office/drawing/2014/main" val="172038099"/>
                    </a:ext>
                  </a:extLst>
                </a:gridCol>
                <a:gridCol w="1423105">
                  <a:extLst>
                    <a:ext uri="{9D8B030D-6E8A-4147-A177-3AD203B41FA5}">
                      <a16:colId xmlns:a16="http://schemas.microsoft.com/office/drawing/2014/main" val="2603023022"/>
                    </a:ext>
                  </a:extLst>
                </a:gridCol>
                <a:gridCol w="1423105">
                  <a:extLst>
                    <a:ext uri="{9D8B030D-6E8A-4147-A177-3AD203B41FA5}">
                      <a16:colId xmlns:a16="http://schemas.microsoft.com/office/drawing/2014/main" val="488444296"/>
                    </a:ext>
                  </a:extLst>
                </a:gridCol>
              </a:tblGrid>
              <a:tr h="539973">
                <a:tc>
                  <a:txBody>
                    <a:bodyPr/>
                    <a:lstStyle/>
                    <a:p>
                      <a:pPr latinLnBrk="1"/>
                      <a:endParaRPr lang="ko-KR" altLang="en-US" sz="1300" dirty="0"/>
                    </a:p>
                  </a:txBody>
                  <a:tcPr marL="91435" marR="91435" marT="45718" marB="45718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CEAFC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300" dirty="0"/>
                    </a:p>
                  </a:txBody>
                  <a:tcPr marL="91435" marR="91435" marT="45718" marB="45718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CEAFC"/>
                    </a:solidFill>
                  </a:tcPr>
                </a:tc>
                <a:tc gridSpan="3">
                  <a:txBody>
                    <a:bodyPr/>
                    <a:lstStyle/>
                    <a:p>
                      <a:pPr algn="ctr" latinLnBrk="1"/>
                      <a:r>
                        <a:rPr lang="en-US" altLang="ko-KR" sz="2000" b="0" dirty="0"/>
                        <a:t>MHACC (CVPR, 2020)</a:t>
                      </a:r>
                      <a:endParaRPr lang="ko-KR" altLang="en-US" sz="2000" b="0" dirty="0"/>
                    </a:p>
                  </a:txBody>
                  <a:tcPr marL="91435" marR="91435" marT="45718" marB="45718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CEAFC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 gridSpan="3"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2000" b="0" dirty="0"/>
                        <a:t>MDLCC (CVPR, 2020)</a:t>
                      </a:r>
                      <a:endParaRPr lang="ko-KR" altLang="en-US" sz="2000" b="0" dirty="0"/>
                    </a:p>
                  </a:txBody>
                  <a:tcPr marL="91435" marR="91435" marT="45718" marB="45718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CEAFC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 gridSpan="3">
                  <a:txBody>
                    <a:bodyPr/>
                    <a:lstStyle/>
                    <a:p>
                      <a:pPr algn="ctr" latinLnBrk="1"/>
                      <a:r>
                        <a:rPr lang="en-US" altLang="ko-KR" sz="2000" b="1"/>
                        <a:t>Ours</a:t>
                      </a:r>
                      <a:endParaRPr lang="ko-KR" altLang="en-US" sz="2000" b="1" dirty="0"/>
                    </a:p>
                  </a:txBody>
                  <a:tcPr marL="91435" marR="91435" marT="45718" marB="45718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CEAFC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82566054"/>
                  </a:ext>
                </a:extLst>
              </a:tr>
              <a:tr h="539973">
                <a:tc>
                  <a:txBody>
                    <a:bodyPr/>
                    <a:lstStyle/>
                    <a:p>
                      <a:pPr latinLnBrk="1"/>
                      <a:endParaRPr lang="ko-KR" altLang="en-US" sz="1300" dirty="0"/>
                    </a:p>
                  </a:txBody>
                  <a:tcPr marL="91435" marR="91435" marT="45718" marB="45718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CEAFC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300" dirty="0"/>
                    </a:p>
                  </a:txBody>
                  <a:tcPr marL="91435" marR="91435" marT="45718" marB="45718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CEAFC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300"/>
                        <a:t>Mean</a:t>
                      </a:r>
                      <a:endParaRPr lang="ko-KR" altLang="en-US" sz="1300" dirty="0"/>
                    </a:p>
                  </a:txBody>
                  <a:tcPr marL="91435" marR="91435" marT="45718" marB="45718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CEAFC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300" dirty="0"/>
                        <a:t>Best25%</a:t>
                      </a:r>
                      <a:endParaRPr lang="ko-KR" altLang="en-US" sz="1300" dirty="0"/>
                    </a:p>
                  </a:txBody>
                  <a:tcPr marL="91435" marR="91435" marT="45718" marB="45718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CEAFC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300"/>
                        <a:t>Worst25%</a:t>
                      </a:r>
                      <a:endParaRPr lang="ko-KR" altLang="en-US" sz="1300" dirty="0"/>
                    </a:p>
                  </a:txBody>
                  <a:tcPr marL="91435" marR="91435" marT="45718" marB="45718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CEAFC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300"/>
                        <a:t>Mean</a:t>
                      </a:r>
                      <a:endParaRPr lang="ko-KR" altLang="en-US" sz="1300" dirty="0"/>
                    </a:p>
                  </a:txBody>
                  <a:tcPr marL="91435" marR="91435" marT="45718" marB="45718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CEAFC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300"/>
                        <a:t>Best25%</a:t>
                      </a:r>
                      <a:endParaRPr lang="ko-KR" altLang="en-US" sz="1300" dirty="0"/>
                    </a:p>
                  </a:txBody>
                  <a:tcPr marL="91435" marR="91435" marT="45718" marB="45718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CEAFC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300"/>
                        <a:t>Worst25%</a:t>
                      </a:r>
                      <a:endParaRPr lang="ko-KR" altLang="en-US" sz="1300" dirty="0"/>
                    </a:p>
                  </a:txBody>
                  <a:tcPr marL="91435" marR="91435" marT="45718" marB="45718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CEAFC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300" dirty="0"/>
                        <a:t>Mean</a:t>
                      </a:r>
                      <a:endParaRPr lang="ko-KR" altLang="en-US" sz="1300" dirty="0"/>
                    </a:p>
                  </a:txBody>
                  <a:tcPr marL="91435" marR="91435" marT="45718" marB="45718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CEAFC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300" dirty="0"/>
                        <a:t>Best25%</a:t>
                      </a:r>
                      <a:endParaRPr lang="ko-KR" altLang="en-US" sz="1300" dirty="0"/>
                    </a:p>
                  </a:txBody>
                  <a:tcPr marL="91435" marR="91435" marT="45718" marB="45718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CEAFC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300" dirty="0"/>
                        <a:t>Worst25%</a:t>
                      </a:r>
                      <a:endParaRPr lang="ko-KR" altLang="en-US" sz="1300" dirty="0"/>
                    </a:p>
                  </a:txBody>
                  <a:tcPr marL="91435" marR="91435" marT="45718" marB="45718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CE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83869664"/>
                  </a:ext>
                </a:extLst>
              </a:tr>
              <a:tr h="503975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300"/>
                        <a:t>Gehler-Shi</a:t>
                      </a:r>
                      <a:endParaRPr lang="ko-KR" altLang="en-US" sz="1300" dirty="0"/>
                    </a:p>
                  </a:txBody>
                  <a:tcPr marL="91435" marR="91435" marT="45718" marB="45718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300" dirty="0"/>
                        <a:t>Canon5D</a:t>
                      </a:r>
                      <a:endParaRPr lang="ko-KR" altLang="en-US" sz="1300" dirty="0"/>
                    </a:p>
                  </a:txBody>
                  <a:tcPr marL="91435" marR="91435" marT="45718" marB="45718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2000" dirty="0"/>
                        <a:t>2.10</a:t>
                      </a:r>
                      <a:endParaRPr lang="ko-KR" altLang="en-US" sz="2000" dirty="0"/>
                    </a:p>
                  </a:txBody>
                  <a:tcPr marL="91435" marR="91435" marT="45718" marB="45718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2000" dirty="0">
                          <a:solidFill>
                            <a:srgbClr val="2A83ED"/>
                          </a:solidFill>
                        </a:rPr>
                        <a:t>0.36</a:t>
                      </a:r>
                      <a:endParaRPr lang="ko-KR" altLang="en-US" sz="2000" dirty="0">
                        <a:solidFill>
                          <a:srgbClr val="2A83ED"/>
                        </a:solidFill>
                      </a:endParaRPr>
                    </a:p>
                  </a:txBody>
                  <a:tcPr marL="91435" marR="91435" marT="45718" marB="45718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2000"/>
                        <a:t>5.10</a:t>
                      </a:r>
                      <a:endParaRPr lang="ko-KR" altLang="en-US" sz="2000" dirty="0"/>
                    </a:p>
                  </a:txBody>
                  <a:tcPr marL="91435" marR="91435" marT="45718" marB="45718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2000" dirty="0">
                          <a:solidFill>
                            <a:srgbClr val="2A83ED"/>
                          </a:solidFill>
                        </a:rPr>
                        <a:t>1.87</a:t>
                      </a:r>
                      <a:endParaRPr lang="ko-KR" altLang="en-US" sz="2000" dirty="0">
                        <a:solidFill>
                          <a:srgbClr val="2A83ED"/>
                        </a:solidFill>
                      </a:endParaRPr>
                    </a:p>
                  </a:txBody>
                  <a:tcPr marL="91435" marR="91435" marT="45718" marB="45718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2000">
                          <a:solidFill>
                            <a:schemeClr val="tx1"/>
                          </a:solidFill>
                        </a:rPr>
                        <a:t>0.43</a:t>
                      </a:r>
                      <a:endParaRPr lang="ko-KR" altLang="en-US" sz="2000" dirty="0">
                        <a:solidFill>
                          <a:schemeClr val="tx1"/>
                        </a:solidFill>
                      </a:endParaRPr>
                    </a:p>
                  </a:txBody>
                  <a:tcPr marL="91435" marR="91435" marT="45718" marB="45718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2000"/>
                        <a:t>4.40</a:t>
                      </a:r>
                      <a:endParaRPr lang="ko-KR" altLang="en-US" sz="2000" dirty="0"/>
                    </a:p>
                  </a:txBody>
                  <a:tcPr marL="91435" marR="91435" marT="45718" marB="45718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2000" dirty="0"/>
                        <a:t>2.41</a:t>
                      </a:r>
                      <a:endParaRPr lang="ko-KR" altLang="en-US" sz="2000" dirty="0"/>
                    </a:p>
                  </a:txBody>
                  <a:tcPr marL="91435" marR="91435" marT="45718" marB="45718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2000"/>
                        <a:t>0.64</a:t>
                      </a:r>
                      <a:endParaRPr lang="ko-KR" altLang="en-US" sz="2000" dirty="0"/>
                    </a:p>
                  </a:txBody>
                  <a:tcPr marL="91435" marR="91435" marT="45718" marB="45718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2000">
                          <a:solidFill>
                            <a:srgbClr val="2A83ED"/>
                          </a:solidFill>
                        </a:rPr>
                        <a:t>4.28</a:t>
                      </a:r>
                      <a:endParaRPr lang="ko-KR" altLang="en-US" sz="2000" dirty="0">
                        <a:solidFill>
                          <a:srgbClr val="2A83ED"/>
                        </a:solidFill>
                      </a:endParaRPr>
                    </a:p>
                  </a:txBody>
                  <a:tcPr marL="91435" marR="91435" marT="45718" marB="45718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548968710"/>
                  </a:ext>
                </a:extLst>
              </a:tr>
              <a:tr h="503975">
                <a:tc rowSpan="8">
                  <a:txBody>
                    <a:bodyPr/>
                    <a:lstStyle/>
                    <a:p>
                      <a:pPr algn="ctr" latinLnBrk="1"/>
                      <a:r>
                        <a:rPr lang="en-US" altLang="ko-KR" sz="1300"/>
                        <a:t>NUS</a:t>
                      </a:r>
                      <a:endParaRPr lang="ko-KR" altLang="en-US" sz="1300" dirty="0"/>
                    </a:p>
                  </a:txBody>
                  <a:tcPr marL="91435" marR="91435" marT="45718" marB="45718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300"/>
                        <a:t>Canon1D</a:t>
                      </a:r>
                      <a:endParaRPr lang="ko-KR" altLang="en-US" sz="1300" dirty="0"/>
                    </a:p>
                  </a:txBody>
                  <a:tcPr marL="91435" marR="91435" marT="45718" marB="45718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rowSpan="8">
                  <a:txBody>
                    <a:bodyPr/>
                    <a:lstStyle/>
                    <a:p>
                      <a:pPr algn="ctr" latinLnBrk="1"/>
                      <a:r>
                        <a:rPr lang="en-US" altLang="ko-KR" sz="2000"/>
                        <a:t>2.22</a:t>
                      </a:r>
                      <a:endParaRPr lang="ko-KR" altLang="en-US" sz="2000" dirty="0"/>
                    </a:p>
                  </a:txBody>
                  <a:tcPr marL="91435" marR="91435" marT="45718" marB="45718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rowSpan="8">
                  <a:txBody>
                    <a:bodyPr/>
                    <a:lstStyle/>
                    <a:p>
                      <a:pPr algn="ctr" latinLnBrk="1"/>
                      <a:r>
                        <a:rPr lang="en-US" altLang="ko-KR" sz="2000" dirty="0">
                          <a:solidFill>
                            <a:srgbClr val="2A83ED"/>
                          </a:solidFill>
                        </a:rPr>
                        <a:t>0.44</a:t>
                      </a:r>
                      <a:endParaRPr lang="ko-KR" altLang="en-US" sz="2000" dirty="0">
                        <a:solidFill>
                          <a:srgbClr val="2A83ED"/>
                        </a:solidFill>
                      </a:endParaRPr>
                    </a:p>
                  </a:txBody>
                  <a:tcPr marL="91435" marR="91435" marT="45718" marB="45718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rowSpan="8">
                  <a:txBody>
                    <a:bodyPr/>
                    <a:lstStyle/>
                    <a:p>
                      <a:pPr algn="ctr" latinLnBrk="1"/>
                      <a:r>
                        <a:rPr lang="en-US" altLang="ko-KR" sz="2000"/>
                        <a:t>5.49</a:t>
                      </a:r>
                      <a:endParaRPr lang="ko-KR" altLang="en-US" sz="2000" dirty="0"/>
                    </a:p>
                  </a:txBody>
                  <a:tcPr marL="91435" marR="91435" marT="45718" marB="45718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2000" dirty="0"/>
                        <a:t>2.00</a:t>
                      </a:r>
                      <a:endParaRPr lang="ko-KR" altLang="en-US" sz="2000" dirty="0"/>
                    </a:p>
                  </a:txBody>
                  <a:tcPr marL="91435" marR="91435" marT="45718" marB="45718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2000"/>
                        <a:t>0.45</a:t>
                      </a:r>
                      <a:endParaRPr lang="ko-KR" altLang="en-US" sz="2000" dirty="0"/>
                    </a:p>
                  </a:txBody>
                  <a:tcPr marL="91435" marR="91435" marT="45718" marB="45718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2000"/>
                        <a:t>4.39</a:t>
                      </a:r>
                      <a:endParaRPr lang="ko-KR" altLang="en-US" sz="2000" dirty="0"/>
                    </a:p>
                  </a:txBody>
                  <a:tcPr marL="91435" marR="91435" marT="45718" marB="45718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2000" dirty="0">
                          <a:solidFill>
                            <a:srgbClr val="2A83ED"/>
                          </a:solidFill>
                        </a:rPr>
                        <a:t>1.58</a:t>
                      </a:r>
                      <a:endParaRPr lang="ko-KR" altLang="en-US" sz="2000" dirty="0">
                        <a:solidFill>
                          <a:srgbClr val="2A83ED"/>
                        </a:solidFill>
                      </a:endParaRPr>
                    </a:p>
                  </a:txBody>
                  <a:tcPr marL="91435" marR="91435" marT="45718" marB="45718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2000"/>
                        <a:t>0.45</a:t>
                      </a:r>
                      <a:endParaRPr lang="ko-KR" altLang="en-US" sz="2000" dirty="0"/>
                    </a:p>
                  </a:txBody>
                  <a:tcPr marL="91435" marR="91435" marT="45718" marB="45718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2000">
                          <a:solidFill>
                            <a:srgbClr val="2A83ED"/>
                          </a:solidFill>
                        </a:rPr>
                        <a:t>3.32</a:t>
                      </a:r>
                      <a:endParaRPr lang="ko-KR" altLang="en-US" sz="2000" dirty="0">
                        <a:solidFill>
                          <a:srgbClr val="2A83ED"/>
                        </a:solidFill>
                      </a:endParaRPr>
                    </a:p>
                  </a:txBody>
                  <a:tcPr marL="91435" marR="91435" marT="45718" marB="45718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888039620"/>
                  </a:ext>
                </a:extLst>
              </a:tr>
              <a:tr h="503975">
                <a:tc v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300"/>
                        <a:t>Canon600D</a:t>
                      </a:r>
                      <a:endParaRPr lang="ko-KR" altLang="en-US" sz="1300" dirty="0"/>
                    </a:p>
                  </a:txBody>
                  <a:tcPr marL="91435" marR="91435" marT="45718" marB="45718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vMerge="1">
                  <a:txBody>
                    <a:bodyPr/>
                    <a:lstStyle/>
                    <a:p>
                      <a:pPr algn="ctr" latinLnBrk="1"/>
                      <a:endParaRPr lang="ko-KR" altLang="en-US" dirty="0"/>
                    </a:p>
                  </a:txBody>
                  <a:tcPr anchor="ctr"/>
                </a:tc>
                <a:tc vMerge="1">
                  <a:txBody>
                    <a:bodyPr/>
                    <a:lstStyle/>
                    <a:p>
                      <a:pPr algn="ctr" latinLnBrk="1"/>
                      <a:endParaRPr lang="ko-KR" altLang="en-US"/>
                    </a:p>
                  </a:txBody>
                  <a:tcPr anchor="ctr"/>
                </a:tc>
                <a:tc vMerge="1">
                  <a:txBody>
                    <a:bodyPr/>
                    <a:lstStyle/>
                    <a:p>
                      <a:pPr algn="ctr" latinLnBrk="1"/>
                      <a:endParaRPr lang="ko-KR" altLang="en-US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2000"/>
                        <a:t>1.93</a:t>
                      </a:r>
                      <a:endParaRPr lang="ko-KR" altLang="en-US" sz="2000" dirty="0"/>
                    </a:p>
                  </a:txBody>
                  <a:tcPr marL="91435" marR="91435" marT="45718" marB="45718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2000"/>
                        <a:t>0.44</a:t>
                      </a:r>
                      <a:endParaRPr lang="ko-KR" altLang="en-US" sz="2000" dirty="0"/>
                    </a:p>
                  </a:txBody>
                  <a:tcPr marL="91435" marR="91435" marT="45718" marB="45718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2000"/>
                        <a:t>4.33</a:t>
                      </a:r>
                      <a:endParaRPr lang="ko-KR" altLang="en-US" sz="2000" dirty="0"/>
                    </a:p>
                  </a:txBody>
                  <a:tcPr marL="91435" marR="91435" marT="45718" marB="45718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2000" dirty="0">
                          <a:solidFill>
                            <a:srgbClr val="2A83ED"/>
                          </a:solidFill>
                        </a:rPr>
                        <a:t>1.49</a:t>
                      </a:r>
                      <a:endParaRPr lang="ko-KR" altLang="en-US" sz="2000" dirty="0">
                        <a:solidFill>
                          <a:srgbClr val="2A83ED"/>
                        </a:solidFill>
                      </a:endParaRPr>
                    </a:p>
                  </a:txBody>
                  <a:tcPr marL="91435" marR="91435" marT="45718" marB="45718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2000">
                          <a:solidFill>
                            <a:srgbClr val="2A83ED"/>
                          </a:solidFill>
                        </a:rPr>
                        <a:t>0.44</a:t>
                      </a:r>
                      <a:endParaRPr lang="ko-KR" altLang="en-US" sz="2000" dirty="0">
                        <a:solidFill>
                          <a:srgbClr val="2A83ED"/>
                        </a:solidFill>
                      </a:endParaRPr>
                    </a:p>
                  </a:txBody>
                  <a:tcPr marL="91435" marR="91435" marT="45718" marB="45718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2000">
                          <a:solidFill>
                            <a:srgbClr val="2A83ED"/>
                          </a:solidFill>
                        </a:rPr>
                        <a:t>3.05</a:t>
                      </a:r>
                      <a:endParaRPr lang="ko-KR" altLang="en-US" sz="2000" dirty="0">
                        <a:solidFill>
                          <a:srgbClr val="2A83ED"/>
                        </a:solidFill>
                      </a:endParaRPr>
                    </a:p>
                  </a:txBody>
                  <a:tcPr marL="91435" marR="91435" marT="45718" marB="45718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463311682"/>
                  </a:ext>
                </a:extLst>
              </a:tr>
              <a:tr h="503975">
                <a:tc v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300"/>
                        <a:t>FujifilmXM1</a:t>
                      </a:r>
                      <a:endParaRPr lang="ko-KR" altLang="en-US" sz="1300" dirty="0"/>
                    </a:p>
                  </a:txBody>
                  <a:tcPr marL="91435" marR="91435" marT="45718" marB="45718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vMerge="1">
                  <a:txBody>
                    <a:bodyPr/>
                    <a:lstStyle/>
                    <a:p>
                      <a:pPr algn="ctr" latinLnBrk="1"/>
                      <a:endParaRPr lang="ko-KR" altLang="en-US"/>
                    </a:p>
                  </a:txBody>
                  <a:tcPr anchor="ctr"/>
                </a:tc>
                <a:tc vMerge="1">
                  <a:txBody>
                    <a:bodyPr/>
                    <a:lstStyle/>
                    <a:p>
                      <a:pPr algn="ctr" latinLnBrk="1"/>
                      <a:endParaRPr lang="ko-KR" altLang="en-US"/>
                    </a:p>
                  </a:txBody>
                  <a:tcPr anchor="ctr"/>
                </a:tc>
                <a:tc vMerge="1">
                  <a:txBody>
                    <a:bodyPr/>
                    <a:lstStyle/>
                    <a:p>
                      <a:pPr algn="ctr" latinLnBrk="1"/>
                      <a:endParaRPr lang="ko-KR" altLang="en-US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2000"/>
                        <a:t>2.03</a:t>
                      </a:r>
                      <a:endParaRPr lang="ko-KR" altLang="en-US" sz="2000" dirty="0"/>
                    </a:p>
                  </a:txBody>
                  <a:tcPr marL="91435" marR="91435" marT="45718" marB="45718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2000" dirty="0">
                          <a:solidFill>
                            <a:srgbClr val="2A83ED"/>
                          </a:solidFill>
                        </a:rPr>
                        <a:t>0.47</a:t>
                      </a:r>
                      <a:endParaRPr lang="ko-KR" altLang="en-US" sz="2000" dirty="0">
                        <a:solidFill>
                          <a:srgbClr val="2A83ED"/>
                        </a:solidFill>
                      </a:endParaRPr>
                    </a:p>
                  </a:txBody>
                  <a:tcPr marL="91435" marR="91435" marT="45718" marB="45718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2000"/>
                        <a:t>4.36</a:t>
                      </a:r>
                      <a:endParaRPr lang="ko-KR" altLang="en-US" sz="2000" dirty="0"/>
                    </a:p>
                  </a:txBody>
                  <a:tcPr marL="91435" marR="91435" marT="45718" marB="45718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2000" dirty="0">
                          <a:solidFill>
                            <a:srgbClr val="2A83ED"/>
                          </a:solidFill>
                        </a:rPr>
                        <a:t>1.73</a:t>
                      </a:r>
                      <a:endParaRPr lang="ko-KR" altLang="en-US" sz="2000" dirty="0">
                        <a:solidFill>
                          <a:srgbClr val="2A83ED"/>
                        </a:solidFill>
                      </a:endParaRPr>
                    </a:p>
                  </a:txBody>
                  <a:tcPr marL="91435" marR="91435" marT="45718" marB="45718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2000"/>
                        <a:t>0.52</a:t>
                      </a:r>
                      <a:endParaRPr lang="ko-KR" altLang="en-US" sz="2000" dirty="0"/>
                    </a:p>
                  </a:txBody>
                  <a:tcPr marL="91435" marR="91435" marT="45718" marB="45718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2000">
                          <a:solidFill>
                            <a:srgbClr val="2A83ED"/>
                          </a:solidFill>
                        </a:rPr>
                        <a:t>3.53</a:t>
                      </a:r>
                      <a:endParaRPr lang="ko-KR" altLang="en-US" sz="2000" dirty="0">
                        <a:solidFill>
                          <a:srgbClr val="2A83ED"/>
                        </a:solidFill>
                      </a:endParaRPr>
                    </a:p>
                  </a:txBody>
                  <a:tcPr marL="91435" marR="91435" marT="45718" marB="45718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249774764"/>
                  </a:ext>
                </a:extLst>
              </a:tr>
              <a:tr h="503975">
                <a:tc v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300" b="0"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</a:rPr>
                        <a:t>NikonD5200</a:t>
                      </a:r>
                      <a:endParaRPr lang="ko-KR" altLang="en-US" sz="1300" dirty="0">
                        <a:solidFill>
                          <a:schemeClr val="tx1"/>
                        </a:solidFill>
                      </a:endParaRPr>
                    </a:p>
                  </a:txBody>
                  <a:tcPr marL="91435" marR="91435" marT="45718" marB="45718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vMerge="1">
                  <a:txBody>
                    <a:bodyPr/>
                    <a:lstStyle/>
                    <a:p>
                      <a:pPr algn="ctr" latinLnBrk="1"/>
                      <a:endParaRPr lang="ko-KR" altLang="en-US" dirty="0"/>
                    </a:p>
                  </a:txBody>
                  <a:tcPr anchor="ctr"/>
                </a:tc>
                <a:tc vMerge="1">
                  <a:txBody>
                    <a:bodyPr/>
                    <a:lstStyle/>
                    <a:p>
                      <a:pPr algn="ctr" latinLnBrk="1"/>
                      <a:endParaRPr lang="ko-KR" altLang="en-US" dirty="0"/>
                    </a:p>
                  </a:txBody>
                  <a:tcPr anchor="ctr"/>
                </a:tc>
                <a:tc vMerge="1">
                  <a:txBody>
                    <a:bodyPr/>
                    <a:lstStyle/>
                    <a:p>
                      <a:pPr algn="ctr" latinLnBrk="1"/>
                      <a:endParaRPr lang="ko-KR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2000"/>
                        <a:t>2.25</a:t>
                      </a:r>
                      <a:endParaRPr lang="ko-KR" altLang="en-US" sz="2000" dirty="0"/>
                    </a:p>
                  </a:txBody>
                  <a:tcPr marL="91435" marR="91435" marT="45718" marB="45718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2000" dirty="0">
                          <a:solidFill>
                            <a:srgbClr val="2A83ED"/>
                          </a:solidFill>
                        </a:rPr>
                        <a:t>0.44</a:t>
                      </a:r>
                      <a:endParaRPr lang="ko-KR" altLang="en-US" sz="2000" dirty="0">
                        <a:solidFill>
                          <a:srgbClr val="2A83ED"/>
                        </a:solidFill>
                      </a:endParaRPr>
                    </a:p>
                  </a:txBody>
                  <a:tcPr marL="91435" marR="91435" marT="45718" marB="45718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2000"/>
                        <a:t>5.01</a:t>
                      </a:r>
                      <a:endParaRPr lang="ko-KR" altLang="en-US" sz="2000" dirty="0"/>
                    </a:p>
                  </a:txBody>
                  <a:tcPr marL="91435" marR="91435" marT="45718" marB="45718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2000" dirty="0">
                          <a:solidFill>
                            <a:srgbClr val="2A83ED"/>
                          </a:solidFill>
                        </a:rPr>
                        <a:t>1.66</a:t>
                      </a:r>
                      <a:endParaRPr lang="ko-KR" altLang="en-US" sz="2000" dirty="0">
                        <a:solidFill>
                          <a:srgbClr val="2A83ED"/>
                        </a:solidFill>
                      </a:endParaRPr>
                    </a:p>
                  </a:txBody>
                  <a:tcPr marL="91435" marR="91435" marT="45718" marB="45718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2000"/>
                        <a:t>0.52</a:t>
                      </a:r>
                      <a:endParaRPr lang="ko-KR" altLang="en-US" sz="2000" dirty="0"/>
                    </a:p>
                  </a:txBody>
                  <a:tcPr marL="91435" marR="91435" marT="45718" marB="45718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2000">
                          <a:solidFill>
                            <a:srgbClr val="2A83ED"/>
                          </a:solidFill>
                        </a:rPr>
                        <a:t>3.51</a:t>
                      </a:r>
                      <a:endParaRPr lang="ko-KR" altLang="en-US" sz="2000" dirty="0">
                        <a:solidFill>
                          <a:srgbClr val="2A83ED"/>
                        </a:solidFill>
                      </a:endParaRPr>
                    </a:p>
                  </a:txBody>
                  <a:tcPr marL="91435" marR="91435" marT="45718" marB="45718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238664147"/>
                  </a:ext>
                </a:extLst>
              </a:tr>
              <a:tr h="503975">
                <a:tc v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300" b="0"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</a:rPr>
                        <a:t>OlympusEPL6</a:t>
                      </a:r>
                      <a:endParaRPr lang="ko-KR" altLang="en-US" sz="1300" dirty="0">
                        <a:solidFill>
                          <a:schemeClr val="tx1"/>
                        </a:solidFill>
                      </a:endParaRPr>
                    </a:p>
                  </a:txBody>
                  <a:tcPr marL="91435" marR="91435" marT="45718" marB="45718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vMerge="1">
                  <a:txBody>
                    <a:bodyPr/>
                    <a:lstStyle/>
                    <a:p>
                      <a:pPr algn="ctr" latinLnBrk="1"/>
                      <a:endParaRPr lang="ko-KR" altLang="en-US"/>
                    </a:p>
                  </a:txBody>
                  <a:tcPr anchor="ctr"/>
                </a:tc>
                <a:tc vMerge="1">
                  <a:txBody>
                    <a:bodyPr/>
                    <a:lstStyle/>
                    <a:p>
                      <a:pPr algn="ctr" latinLnBrk="1"/>
                      <a:endParaRPr lang="ko-KR" altLang="en-US"/>
                    </a:p>
                  </a:txBody>
                  <a:tcPr anchor="ctr"/>
                </a:tc>
                <a:tc vMerge="1">
                  <a:txBody>
                    <a:bodyPr/>
                    <a:lstStyle/>
                    <a:p>
                      <a:pPr algn="ctr" latinLnBrk="1"/>
                      <a:endParaRPr lang="ko-KR" altLang="en-US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2000"/>
                        <a:t>1.80</a:t>
                      </a:r>
                      <a:endParaRPr lang="ko-KR" altLang="en-US" sz="2000" dirty="0"/>
                    </a:p>
                  </a:txBody>
                  <a:tcPr marL="91435" marR="91435" marT="45718" marB="45718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2000"/>
                        <a:t>0.46</a:t>
                      </a:r>
                      <a:endParaRPr lang="ko-KR" altLang="en-US" sz="2000" dirty="0"/>
                    </a:p>
                  </a:txBody>
                  <a:tcPr marL="91435" marR="91435" marT="45718" marB="45718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2000"/>
                        <a:t>3.97</a:t>
                      </a:r>
                      <a:endParaRPr lang="ko-KR" altLang="en-US" sz="2000" dirty="0"/>
                    </a:p>
                  </a:txBody>
                  <a:tcPr marL="91435" marR="91435" marT="45718" marB="45718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2000" dirty="0">
                          <a:solidFill>
                            <a:srgbClr val="2A83ED"/>
                          </a:solidFill>
                        </a:rPr>
                        <a:t>1.61</a:t>
                      </a:r>
                      <a:endParaRPr lang="ko-KR" altLang="en-US" sz="2000" dirty="0">
                        <a:solidFill>
                          <a:srgbClr val="2A83ED"/>
                        </a:solidFill>
                      </a:endParaRPr>
                    </a:p>
                  </a:txBody>
                  <a:tcPr marL="91435" marR="91435" marT="45718" marB="45718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2000">
                          <a:solidFill>
                            <a:srgbClr val="2A83ED"/>
                          </a:solidFill>
                        </a:rPr>
                        <a:t>0.45</a:t>
                      </a:r>
                      <a:endParaRPr lang="ko-KR" altLang="en-US" sz="2000" dirty="0">
                        <a:solidFill>
                          <a:srgbClr val="2A83ED"/>
                        </a:solidFill>
                      </a:endParaRPr>
                    </a:p>
                  </a:txBody>
                  <a:tcPr marL="91435" marR="91435" marT="45718" marB="45718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2000">
                          <a:solidFill>
                            <a:srgbClr val="2A83ED"/>
                          </a:solidFill>
                        </a:rPr>
                        <a:t>3.35</a:t>
                      </a:r>
                      <a:endParaRPr lang="ko-KR" altLang="en-US" sz="2000" dirty="0">
                        <a:solidFill>
                          <a:srgbClr val="2A83ED"/>
                        </a:solidFill>
                      </a:endParaRPr>
                    </a:p>
                  </a:txBody>
                  <a:tcPr marL="91435" marR="91435" marT="45718" marB="45718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194136418"/>
                  </a:ext>
                </a:extLst>
              </a:tr>
              <a:tr h="503975">
                <a:tc v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300" b="0" dirty="0"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</a:rPr>
                        <a:t>PanasonicGX1</a:t>
                      </a:r>
                      <a:endParaRPr lang="ko-KR" altLang="en-US" sz="1300" dirty="0">
                        <a:solidFill>
                          <a:schemeClr val="tx1"/>
                        </a:solidFill>
                      </a:endParaRPr>
                    </a:p>
                  </a:txBody>
                  <a:tcPr marL="91435" marR="91435" marT="45718" marB="45718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vMerge="1">
                  <a:txBody>
                    <a:bodyPr/>
                    <a:lstStyle/>
                    <a:p>
                      <a:pPr algn="ctr" latinLnBrk="1"/>
                      <a:endParaRPr lang="ko-KR" altLang="en-US"/>
                    </a:p>
                  </a:txBody>
                  <a:tcPr anchor="ctr"/>
                </a:tc>
                <a:tc vMerge="1">
                  <a:txBody>
                    <a:bodyPr/>
                    <a:lstStyle/>
                    <a:p>
                      <a:pPr algn="ctr" latinLnBrk="1"/>
                      <a:endParaRPr lang="ko-KR" altLang="en-US" dirty="0"/>
                    </a:p>
                  </a:txBody>
                  <a:tcPr anchor="ctr"/>
                </a:tc>
                <a:tc vMerge="1">
                  <a:txBody>
                    <a:bodyPr/>
                    <a:lstStyle/>
                    <a:p>
                      <a:pPr algn="ctr" latinLnBrk="1"/>
                      <a:endParaRPr lang="ko-KR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2000"/>
                        <a:t>1.90</a:t>
                      </a:r>
                      <a:endParaRPr lang="ko-KR" altLang="en-US" sz="2000" dirty="0"/>
                    </a:p>
                  </a:txBody>
                  <a:tcPr marL="91435" marR="91435" marT="45718" marB="45718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2000"/>
                        <a:t>0.42</a:t>
                      </a:r>
                      <a:endParaRPr lang="ko-KR" altLang="en-US" sz="2000" dirty="0"/>
                    </a:p>
                  </a:txBody>
                  <a:tcPr marL="91435" marR="91435" marT="45718" marB="45718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2000"/>
                        <a:t>4.37</a:t>
                      </a:r>
                      <a:endParaRPr lang="ko-KR" altLang="en-US" sz="2000" dirty="0"/>
                    </a:p>
                  </a:txBody>
                  <a:tcPr marL="91435" marR="91435" marT="45718" marB="45718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2000" dirty="0">
                          <a:solidFill>
                            <a:srgbClr val="2A83ED"/>
                          </a:solidFill>
                        </a:rPr>
                        <a:t>1.43</a:t>
                      </a:r>
                      <a:endParaRPr lang="ko-KR" altLang="en-US" sz="2000" dirty="0">
                        <a:solidFill>
                          <a:srgbClr val="2A83ED"/>
                        </a:solidFill>
                      </a:endParaRPr>
                    </a:p>
                  </a:txBody>
                  <a:tcPr marL="91435" marR="91435" marT="45718" marB="45718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2000" dirty="0">
                          <a:solidFill>
                            <a:srgbClr val="2A83ED"/>
                          </a:solidFill>
                        </a:rPr>
                        <a:t>0.39</a:t>
                      </a:r>
                      <a:endParaRPr lang="ko-KR" altLang="en-US" sz="2000" dirty="0">
                        <a:solidFill>
                          <a:srgbClr val="2A83ED"/>
                        </a:solidFill>
                      </a:endParaRPr>
                    </a:p>
                  </a:txBody>
                  <a:tcPr marL="91435" marR="91435" marT="45718" marB="45718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2000">
                          <a:solidFill>
                            <a:srgbClr val="2A83ED"/>
                          </a:solidFill>
                        </a:rPr>
                        <a:t>3.05</a:t>
                      </a:r>
                      <a:endParaRPr lang="ko-KR" altLang="en-US" sz="2000" dirty="0">
                        <a:solidFill>
                          <a:srgbClr val="2A83ED"/>
                        </a:solidFill>
                      </a:endParaRPr>
                    </a:p>
                  </a:txBody>
                  <a:tcPr marL="91435" marR="91435" marT="45718" marB="45718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700292251"/>
                  </a:ext>
                </a:extLst>
              </a:tr>
              <a:tr h="503975">
                <a:tc v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300" b="0" dirty="0"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</a:rPr>
                        <a:t>SamsungNX2000</a:t>
                      </a:r>
                      <a:endParaRPr lang="ko-KR" altLang="en-US" sz="1300" dirty="0">
                        <a:solidFill>
                          <a:schemeClr val="tx1"/>
                        </a:solidFill>
                      </a:endParaRPr>
                    </a:p>
                  </a:txBody>
                  <a:tcPr marL="91435" marR="91435" marT="45718" marB="45718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vMerge="1">
                  <a:txBody>
                    <a:bodyPr/>
                    <a:lstStyle/>
                    <a:p>
                      <a:pPr algn="ctr" latinLnBrk="1"/>
                      <a:endParaRPr lang="ko-KR" altLang="en-US" dirty="0"/>
                    </a:p>
                  </a:txBody>
                  <a:tcPr anchor="ctr"/>
                </a:tc>
                <a:tc vMerge="1">
                  <a:txBody>
                    <a:bodyPr/>
                    <a:lstStyle/>
                    <a:p>
                      <a:pPr algn="ctr" latinLnBrk="1"/>
                      <a:endParaRPr lang="ko-KR" altLang="en-US" dirty="0"/>
                    </a:p>
                  </a:txBody>
                  <a:tcPr anchor="ctr"/>
                </a:tc>
                <a:tc vMerge="1">
                  <a:txBody>
                    <a:bodyPr/>
                    <a:lstStyle/>
                    <a:p>
                      <a:pPr algn="ctr" latinLnBrk="1"/>
                      <a:endParaRPr lang="ko-KR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2000"/>
                        <a:t>2.13</a:t>
                      </a:r>
                      <a:endParaRPr lang="ko-KR" altLang="en-US" sz="2000" dirty="0"/>
                    </a:p>
                  </a:txBody>
                  <a:tcPr marL="91435" marR="91435" marT="45718" marB="45718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2000"/>
                        <a:t>0.52</a:t>
                      </a:r>
                      <a:endParaRPr lang="ko-KR" altLang="en-US" sz="2000" dirty="0"/>
                    </a:p>
                  </a:txBody>
                  <a:tcPr marL="91435" marR="91435" marT="45718" marB="45718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2000"/>
                        <a:t>4.62</a:t>
                      </a:r>
                      <a:endParaRPr lang="ko-KR" altLang="en-US" sz="2000" dirty="0"/>
                    </a:p>
                  </a:txBody>
                  <a:tcPr marL="91435" marR="91435" marT="45718" marB="45718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2000" dirty="0">
                          <a:solidFill>
                            <a:srgbClr val="2A83ED"/>
                          </a:solidFill>
                        </a:rPr>
                        <a:t>1.90</a:t>
                      </a:r>
                      <a:endParaRPr lang="ko-KR" altLang="en-US" sz="2000" dirty="0">
                        <a:solidFill>
                          <a:srgbClr val="2A83ED"/>
                        </a:solidFill>
                      </a:endParaRPr>
                    </a:p>
                  </a:txBody>
                  <a:tcPr marL="91435" marR="91435" marT="45718" marB="45718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2000"/>
                        <a:t>0.53</a:t>
                      </a:r>
                      <a:endParaRPr lang="ko-KR" altLang="en-US" sz="2000" dirty="0"/>
                    </a:p>
                  </a:txBody>
                  <a:tcPr marL="91435" marR="91435" marT="45718" marB="45718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2000">
                          <a:solidFill>
                            <a:srgbClr val="2A83ED"/>
                          </a:solidFill>
                        </a:rPr>
                        <a:t>3.73</a:t>
                      </a:r>
                      <a:endParaRPr lang="ko-KR" altLang="en-US" sz="2000" dirty="0">
                        <a:solidFill>
                          <a:srgbClr val="2A83ED"/>
                        </a:solidFill>
                      </a:endParaRPr>
                    </a:p>
                  </a:txBody>
                  <a:tcPr marL="91435" marR="91435" marT="45718" marB="45718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409152006"/>
                  </a:ext>
                </a:extLst>
              </a:tr>
              <a:tr h="503975">
                <a:tc v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300" b="0" dirty="0"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</a:rPr>
                        <a:t>SonyA57</a:t>
                      </a:r>
                      <a:endParaRPr lang="ko-KR" altLang="en-US" sz="1300" dirty="0">
                        <a:solidFill>
                          <a:schemeClr val="tx1"/>
                        </a:solidFill>
                      </a:endParaRPr>
                    </a:p>
                  </a:txBody>
                  <a:tcPr marL="91435" marR="91435" marT="45718" marB="45718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vMerge="1">
                  <a:txBody>
                    <a:bodyPr/>
                    <a:lstStyle/>
                    <a:p>
                      <a:pPr algn="ctr" latinLnBrk="1"/>
                      <a:endParaRPr lang="ko-KR" altLang="en-US" dirty="0"/>
                    </a:p>
                  </a:txBody>
                  <a:tcPr anchor="ctr"/>
                </a:tc>
                <a:tc vMerge="1">
                  <a:txBody>
                    <a:bodyPr/>
                    <a:lstStyle/>
                    <a:p>
                      <a:pPr algn="ctr" latinLnBrk="1"/>
                      <a:endParaRPr lang="ko-KR" altLang="en-US" dirty="0"/>
                    </a:p>
                  </a:txBody>
                  <a:tcPr anchor="ctr"/>
                </a:tc>
                <a:tc vMerge="1">
                  <a:txBody>
                    <a:bodyPr/>
                    <a:lstStyle/>
                    <a:p>
                      <a:pPr algn="ctr" latinLnBrk="1"/>
                      <a:endParaRPr lang="ko-KR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2000"/>
                        <a:t>1.86</a:t>
                      </a:r>
                      <a:endParaRPr lang="ko-KR" altLang="en-US" sz="2000" dirty="0"/>
                    </a:p>
                  </a:txBody>
                  <a:tcPr marL="91435" marR="91435" marT="45718" marB="45718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2000"/>
                        <a:t>0.53</a:t>
                      </a:r>
                      <a:endParaRPr lang="ko-KR" altLang="en-US" sz="2000" dirty="0"/>
                    </a:p>
                  </a:txBody>
                  <a:tcPr marL="91435" marR="91435" marT="45718" marB="45718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2000"/>
                        <a:t>3.89</a:t>
                      </a:r>
                      <a:endParaRPr lang="ko-KR" altLang="en-US" sz="2000" dirty="0"/>
                    </a:p>
                  </a:txBody>
                  <a:tcPr marL="91435" marR="91435" marT="45718" marB="45718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2000" dirty="0">
                          <a:solidFill>
                            <a:srgbClr val="2A83ED"/>
                          </a:solidFill>
                        </a:rPr>
                        <a:t>1.68</a:t>
                      </a:r>
                      <a:endParaRPr lang="ko-KR" altLang="en-US" sz="2000" dirty="0">
                        <a:solidFill>
                          <a:srgbClr val="2A83ED"/>
                        </a:solidFill>
                      </a:endParaRPr>
                    </a:p>
                  </a:txBody>
                  <a:tcPr marL="91435" marR="91435" marT="45718" marB="45718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2000">
                          <a:solidFill>
                            <a:srgbClr val="2A83ED"/>
                          </a:solidFill>
                        </a:rPr>
                        <a:t>0.50</a:t>
                      </a:r>
                      <a:endParaRPr lang="ko-KR" altLang="en-US" sz="2000" dirty="0">
                        <a:solidFill>
                          <a:srgbClr val="2A83ED"/>
                        </a:solidFill>
                      </a:endParaRPr>
                    </a:p>
                  </a:txBody>
                  <a:tcPr marL="91435" marR="91435" marT="45718" marB="45718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2000" dirty="0">
                          <a:solidFill>
                            <a:srgbClr val="2A83ED"/>
                          </a:solidFill>
                        </a:rPr>
                        <a:t>3.36</a:t>
                      </a:r>
                      <a:endParaRPr lang="ko-KR" altLang="en-US" sz="2000" dirty="0">
                        <a:solidFill>
                          <a:srgbClr val="2A83ED"/>
                        </a:solidFill>
                      </a:endParaRPr>
                    </a:p>
                  </a:txBody>
                  <a:tcPr marL="91435" marR="91435" marT="45718" marB="45718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182911778"/>
                  </a:ext>
                </a:extLst>
              </a:tr>
            </a:tbl>
          </a:graphicData>
        </a:graphic>
      </p:graphicFrame>
      <p:sp>
        <p:nvSpPr>
          <p:cNvPr id="9" name="TextBox 8">
            <a:extLst>
              <a:ext uri="{FF2B5EF4-FFF2-40B4-BE49-F238E27FC236}">
                <a16:creationId xmlns:a16="http://schemas.microsoft.com/office/drawing/2014/main" id="{9CD31236-98C9-4BAC-B8D6-E58FD8DD12AE}"/>
              </a:ext>
            </a:extLst>
          </p:cNvPr>
          <p:cNvSpPr txBox="1"/>
          <p:nvPr/>
        </p:nvSpPr>
        <p:spPr>
          <a:xfrm>
            <a:off x="11048749" y="2048356"/>
            <a:ext cx="9143533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latinLnBrk="1"/>
            <a:r>
              <a:rPr lang="en-US" altLang="ko-KR" sz="2000" dirty="0">
                <a:solidFill>
                  <a:srgbClr val="2A83ED"/>
                </a:solidFill>
              </a:rPr>
              <a:t>* Blue:</a:t>
            </a:r>
            <a:r>
              <a:rPr lang="ko-KR" altLang="en-US" sz="2000" dirty="0">
                <a:solidFill>
                  <a:srgbClr val="2A83ED"/>
                </a:solidFill>
              </a:rPr>
              <a:t> </a:t>
            </a:r>
            <a:r>
              <a:rPr lang="en-US" altLang="ko-KR" sz="2000" dirty="0">
                <a:solidFill>
                  <a:srgbClr val="2A83ED"/>
                </a:solidFill>
              </a:rPr>
              <a:t>Best</a:t>
            </a:r>
            <a:r>
              <a:rPr lang="ko-KR" altLang="en-US" sz="2000" dirty="0">
                <a:solidFill>
                  <a:srgbClr val="2A83ED"/>
                </a:solidFill>
              </a:rPr>
              <a:t> </a:t>
            </a:r>
            <a:r>
              <a:rPr lang="en-US" altLang="ko-KR" sz="2000" dirty="0">
                <a:solidFill>
                  <a:srgbClr val="2A83ED"/>
                </a:solidFill>
              </a:rPr>
              <a:t>result</a:t>
            </a:r>
            <a:r>
              <a:rPr lang="ko-KR" altLang="en-US" sz="2000" dirty="0">
                <a:solidFill>
                  <a:srgbClr val="2A83ED"/>
                </a:solidFill>
              </a:rPr>
              <a:t> </a:t>
            </a:r>
            <a:r>
              <a:rPr lang="en-US" altLang="ko-KR" sz="2000" dirty="0">
                <a:solidFill>
                  <a:srgbClr val="2A83ED"/>
                </a:solidFill>
              </a:rPr>
              <a:t>for the camera</a:t>
            </a:r>
            <a:endParaRPr lang="ko-KR" altLang="en-US" sz="2000" dirty="0">
              <a:solidFill>
                <a:srgbClr val="2A83ED"/>
              </a:solidFill>
            </a:endParaRP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F6D9FFF9-8139-4C6D-9EFB-F5C68DDB8B69}"/>
              </a:ext>
            </a:extLst>
          </p:cNvPr>
          <p:cNvSpPr/>
          <p:nvPr/>
        </p:nvSpPr>
        <p:spPr>
          <a:xfrm>
            <a:off x="8841580" y="3127368"/>
            <a:ext cx="1512099" cy="5087518"/>
          </a:xfrm>
          <a:prstGeom prst="rect">
            <a:avLst/>
          </a:prstGeom>
          <a:noFill/>
          <a:ln w="28575">
            <a:solidFill>
              <a:srgbClr val="FC709D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381"/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EB3B110C-3F34-48F8-BE1B-458BBE7298A8}"/>
              </a:ext>
            </a:extLst>
          </p:cNvPr>
          <p:cNvSpPr/>
          <p:nvPr/>
        </p:nvSpPr>
        <p:spPr>
          <a:xfrm>
            <a:off x="13109060" y="3089250"/>
            <a:ext cx="1512099" cy="5087518"/>
          </a:xfrm>
          <a:prstGeom prst="rect">
            <a:avLst/>
          </a:prstGeom>
          <a:noFill/>
          <a:ln w="28575">
            <a:solidFill>
              <a:srgbClr val="FC709D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381"/>
          </a:p>
        </p:txBody>
      </p:sp>
    </p:spTree>
    <p:extLst>
      <p:ext uri="{BB962C8B-B14F-4D97-AF65-F5344CB8AC3E}">
        <p14:creationId xmlns:p14="http://schemas.microsoft.com/office/powerpoint/2010/main" val="2299250639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eelOff"/>
      </p:transition>
    </mc:Choice>
    <mc:Fallback xmlns="">
      <p:transition spd="slow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" name="그룹 1001">
            <a:extLst>
              <a:ext uri="{FF2B5EF4-FFF2-40B4-BE49-F238E27FC236}">
                <a16:creationId xmlns:a16="http://schemas.microsoft.com/office/drawing/2014/main" id="{55CFA78B-DB81-400B-9995-9B2CE408C47A}"/>
              </a:ext>
            </a:extLst>
          </p:cNvPr>
          <p:cNvGrpSpPr/>
          <p:nvPr/>
        </p:nvGrpSpPr>
        <p:grpSpPr>
          <a:xfrm>
            <a:off x="777732" y="1641432"/>
            <a:ext cx="917523" cy="73244"/>
            <a:chOff x="1313068" y="2127719"/>
            <a:chExt cx="917569" cy="73247"/>
          </a:xfrm>
        </p:grpSpPr>
        <p:pic>
          <p:nvPicPr>
            <p:cNvPr id="17" name="Object 2">
              <a:extLst>
                <a:ext uri="{FF2B5EF4-FFF2-40B4-BE49-F238E27FC236}">
                  <a16:creationId xmlns:a16="http://schemas.microsoft.com/office/drawing/2014/main" id="{4286C98B-FE7D-4C87-BB68-11682AAF9A72}"/>
                </a:ext>
              </a:extLst>
            </p:cNvPr>
            <p:cNvPicPr>
              <a:picLocks noChangeAspect="1"/>
            </p:cNvPicPr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313068" y="2127719"/>
              <a:ext cx="917569" cy="73247"/>
            </a:xfrm>
            <a:prstGeom prst="rect">
              <a:avLst/>
            </a:prstGeom>
          </p:spPr>
        </p:pic>
      </p:grpSp>
      <p:sp>
        <p:nvSpPr>
          <p:cNvPr id="14" name="Object 31">
            <a:extLst>
              <a:ext uri="{FF2B5EF4-FFF2-40B4-BE49-F238E27FC236}">
                <a16:creationId xmlns:a16="http://schemas.microsoft.com/office/drawing/2014/main" id="{EBBA54AF-072B-4BA3-8A89-197ABB143051}"/>
              </a:ext>
            </a:extLst>
          </p:cNvPr>
          <p:cNvSpPr txBox="1"/>
          <p:nvPr/>
        </p:nvSpPr>
        <p:spPr>
          <a:xfrm>
            <a:off x="666784" y="574687"/>
            <a:ext cx="15715846" cy="671297"/>
          </a:xfrm>
          <a:prstGeom prst="rect">
            <a:avLst/>
          </a:prstGeom>
          <a:noFill/>
        </p:spPr>
        <p:txBody>
          <a:bodyPr wrap="square" rtlCol="0"/>
          <a:lstStyle/>
          <a:p>
            <a:pPr algn="just">
              <a:lnSpc>
                <a:spcPct val="130000"/>
              </a:lnSpc>
            </a:pPr>
            <a:r>
              <a:rPr lang="en-US" altLang="ko-KR" sz="3600" spc="101" dirty="0" err="1">
                <a:ln w="3175">
                  <a:solidFill>
                    <a:srgbClr val="0044D6">
                      <a:alpha val="0"/>
                    </a:srgbClr>
                  </a:solidFill>
                </a:ln>
                <a:solidFill>
                  <a:srgbClr val="1464E2"/>
                </a:solidFill>
                <a:latin typeface="넥슨Lv2고딕 Bold" panose="00000800000000000000" pitchFamily="2" charset="-127"/>
                <a:ea typeface="넥슨Lv2고딕 Bold" panose="00000800000000000000" pitchFamily="2" charset="-127"/>
              </a:rPr>
              <a:t>Gehler</a:t>
            </a:r>
            <a:r>
              <a:rPr lang="en-US" altLang="ko-KR" sz="3600" spc="101" dirty="0">
                <a:ln w="3175">
                  <a:solidFill>
                    <a:srgbClr val="0044D6">
                      <a:alpha val="0"/>
                    </a:srgbClr>
                  </a:solidFill>
                </a:ln>
                <a:solidFill>
                  <a:srgbClr val="1464E2"/>
                </a:solidFill>
                <a:latin typeface="넥슨Lv2고딕 Bold" panose="00000800000000000000" pitchFamily="2" charset="-127"/>
                <a:ea typeface="넥슨Lv2고딕 Bold" panose="00000800000000000000" pitchFamily="2" charset="-127"/>
              </a:rPr>
              <a:t>-Shi with and without meta learning</a:t>
            </a:r>
            <a:endParaRPr lang="en-US" sz="3600" spc="101" dirty="0">
              <a:ln w="3175">
                <a:solidFill>
                  <a:srgbClr val="0044D6">
                    <a:alpha val="0"/>
                  </a:srgbClr>
                </a:solidFill>
              </a:ln>
              <a:solidFill>
                <a:srgbClr val="1464E2"/>
              </a:solidFill>
              <a:latin typeface="넥슨Lv2고딕 Bold" panose="00000800000000000000" pitchFamily="2" charset="-127"/>
              <a:ea typeface="넥슨Lv2고딕 Bold" panose="00000800000000000000" pitchFamily="2" charset="-127"/>
            </a:endParaRP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A14A244C-BF17-48B4-BE25-04CE3B233031}"/>
              </a:ext>
            </a:extLst>
          </p:cNvPr>
          <p:cNvSpPr/>
          <p:nvPr/>
        </p:nvSpPr>
        <p:spPr>
          <a:xfrm>
            <a:off x="467" y="9494778"/>
            <a:ext cx="18287066" cy="791959"/>
          </a:xfrm>
          <a:prstGeom prst="rect">
            <a:avLst/>
          </a:prstGeom>
          <a:solidFill>
            <a:srgbClr val="4E93F0">
              <a:alpha val="2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36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13B0CA46-05B6-4AEE-AF87-6FEA488C7381}"/>
              </a:ext>
            </a:extLst>
          </p:cNvPr>
          <p:cNvSpPr txBox="1"/>
          <p:nvPr/>
        </p:nvSpPr>
        <p:spPr>
          <a:xfrm>
            <a:off x="1161610" y="9532897"/>
            <a:ext cx="15906786" cy="599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</a:pPr>
            <a:r>
              <a:rPr lang="ko-KR" altLang="en-US" sz="2400" dirty="0">
                <a:ln w="3175">
                  <a:solidFill>
                    <a:schemeClr val="tx1">
                      <a:lumMod val="65000"/>
                      <a:lumOff val="35000"/>
                      <a:alpha val="20000"/>
                    </a:schemeClr>
                  </a:solidFill>
                </a:ln>
                <a:latin typeface="넥슨Lv2고딕" panose="00000500000000000000" pitchFamily="2" charset="-127"/>
                <a:ea typeface="넥슨Lv2고딕" panose="00000500000000000000" pitchFamily="2" charset="-127"/>
                <a:sym typeface="Wingdings" panose="05000000000000000000" pitchFamily="2" charset="2"/>
              </a:rPr>
              <a:t>기존 연구에는 데이터셋 크기</a:t>
            </a:r>
            <a:r>
              <a:rPr lang="en-US" altLang="ko-KR" sz="2400" dirty="0">
                <a:ln w="3175">
                  <a:solidFill>
                    <a:schemeClr val="tx1">
                      <a:lumMod val="65000"/>
                      <a:lumOff val="35000"/>
                      <a:alpha val="20000"/>
                    </a:schemeClr>
                  </a:solidFill>
                </a:ln>
                <a:latin typeface="넥슨Lv2고딕" panose="00000500000000000000" pitchFamily="2" charset="-127"/>
                <a:ea typeface="넥슨Lv2고딕" panose="00000500000000000000" pitchFamily="2" charset="-127"/>
                <a:sym typeface="Wingdings" panose="05000000000000000000" pitchFamily="2" charset="2"/>
              </a:rPr>
              <a:t>, </a:t>
            </a:r>
            <a:r>
              <a:rPr lang="ko-KR" altLang="en-US" sz="2400" dirty="0">
                <a:ln w="3175">
                  <a:solidFill>
                    <a:schemeClr val="tx1">
                      <a:lumMod val="65000"/>
                      <a:lumOff val="35000"/>
                      <a:alpha val="20000"/>
                    </a:schemeClr>
                  </a:solidFill>
                </a:ln>
                <a:latin typeface="넥슨Lv2고딕" panose="00000500000000000000" pitchFamily="2" charset="-127"/>
                <a:ea typeface="넥슨Lv2고딕" panose="00000500000000000000" pitchFamily="2" charset="-127"/>
                <a:sym typeface="Wingdings" panose="05000000000000000000" pitchFamily="2" charset="2"/>
              </a:rPr>
              <a:t>카메라 환경 등에 따른 성능의 한계가 존재함</a:t>
            </a:r>
            <a:endParaRPr lang="en-US" altLang="ko-KR" sz="2400" dirty="0">
              <a:ln w="3175">
                <a:solidFill>
                  <a:schemeClr val="tx1">
                    <a:lumMod val="65000"/>
                    <a:lumOff val="35000"/>
                    <a:alpha val="20000"/>
                  </a:schemeClr>
                </a:solidFill>
              </a:ln>
              <a:latin typeface="넥슨Lv2고딕" panose="00000500000000000000" pitchFamily="2" charset="-127"/>
              <a:ea typeface="넥슨Lv2고딕" panose="00000500000000000000" pitchFamily="2" charset="-127"/>
              <a:sym typeface="Wingdings" panose="05000000000000000000" pitchFamily="2" charset="2"/>
            </a:endParaRPr>
          </a:p>
        </p:txBody>
      </p:sp>
      <p:graphicFrame>
        <p:nvGraphicFramePr>
          <p:cNvPr id="23" name="차트 22">
            <a:extLst>
              <a:ext uri="{FF2B5EF4-FFF2-40B4-BE49-F238E27FC236}">
                <a16:creationId xmlns:a16="http://schemas.microsoft.com/office/drawing/2014/main" id="{C5CB90EA-48ED-4E7F-89D1-6643429A1451}"/>
              </a:ext>
            </a:extLst>
          </p:cNvPr>
          <p:cNvGraphicFramePr/>
          <p:nvPr/>
        </p:nvGraphicFramePr>
        <p:xfrm>
          <a:off x="5267099" y="2981657"/>
          <a:ext cx="7695807" cy="5663911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pic>
        <p:nvPicPr>
          <p:cNvPr id="3" name="그림 2">
            <a:extLst>
              <a:ext uri="{FF2B5EF4-FFF2-40B4-BE49-F238E27FC236}">
                <a16:creationId xmlns:a16="http://schemas.microsoft.com/office/drawing/2014/main" id="{B4937A20-BEB4-4F49-BB17-1912EC953D6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080" y="-1"/>
            <a:ext cx="18282453" cy="102815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14150628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eelOff"/>
      </p:transition>
    </mc:Choice>
    <mc:Fallback xmlns="">
      <p:transition spd="slow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" name="그룹 1001">
            <a:extLst>
              <a:ext uri="{FF2B5EF4-FFF2-40B4-BE49-F238E27FC236}">
                <a16:creationId xmlns:a16="http://schemas.microsoft.com/office/drawing/2014/main" id="{55CFA78B-DB81-400B-9995-9B2CE408C47A}"/>
              </a:ext>
            </a:extLst>
          </p:cNvPr>
          <p:cNvGrpSpPr/>
          <p:nvPr/>
        </p:nvGrpSpPr>
        <p:grpSpPr>
          <a:xfrm>
            <a:off x="777732" y="1641432"/>
            <a:ext cx="917523" cy="73244"/>
            <a:chOff x="1313068" y="2127719"/>
            <a:chExt cx="917569" cy="73247"/>
          </a:xfrm>
        </p:grpSpPr>
        <p:pic>
          <p:nvPicPr>
            <p:cNvPr id="17" name="Object 2">
              <a:extLst>
                <a:ext uri="{FF2B5EF4-FFF2-40B4-BE49-F238E27FC236}">
                  <a16:creationId xmlns:a16="http://schemas.microsoft.com/office/drawing/2014/main" id="{4286C98B-FE7D-4C87-BB68-11682AAF9A72}"/>
                </a:ext>
              </a:extLst>
            </p:cNvPr>
            <p:cNvPicPr>
              <a:picLocks noChangeAspect="1"/>
            </p:cNvPicPr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313068" y="2127719"/>
              <a:ext cx="917569" cy="73247"/>
            </a:xfrm>
            <a:prstGeom prst="rect">
              <a:avLst/>
            </a:prstGeom>
          </p:spPr>
        </p:pic>
      </p:grpSp>
      <p:sp>
        <p:nvSpPr>
          <p:cNvPr id="14" name="Object 31">
            <a:extLst>
              <a:ext uri="{FF2B5EF4-FFF2-40B4-BE49-F238E27FC236}">
                <a16:creationId xmlns:a16="http://schemas.microsoft.com/office/drawing/2014/main" id="{EBBA54AF-072B-4BA3-8A89-197ABB143051}"/>
              </a:ext>
            </a:extLst>
          </p:cNvPr>
          <p:cNvSpPr txBox="1"/>
          <p:nvPr/>
        </p:nvSpPr>
        <p:spPr>
          <a:xfrm>
            <a:off x="590434" y="571734"/>
            <a:ext cx="10458316" cy="671297"/>
          </a:xfrm>
          <a:prstGeom prst="rect">
            <a:avLst/>
          </a:prstGeom>
          <a:noFill/>
        </p:spPr>
        <p:txBody>
          <a:bodyPr wrap="square" rtlCol="0"/>
          <a:lstStyle/>
          <a:p>
            <a:pPr algn="just">
              <a:lnSpc>
                <a:spcPct val="130000"/>
              </a:lnSpc>
            </a:pPr>
            <a:r>
              <a:rPr lang="en-US" altLang="ko-KR" sz="3600" spc="101" dirty="0">
                <a:ln w="3175">
                  <a:solidFill>
                    <a:srgbClr val="0044D6">
                      <a:alpha val="0"/>
                    </a:srgbClr>
                  </a:solidFill>
                </a:ln>
                <a:solidFill>
                  <a:srgbClr val="1464E2"/>
                </a:solidFill>
                <a:latin typeface="넥슨Lv2고딕 Bold" panose="00000800000000000000" pitchFamily="2" charset="-127"/>
                <a:ea typeface="넥슨Lv2고딕 Bold" panose="00000800000000000000" pitchFamily="2" charset="-127"/>
              </a:rPr>
              <a:t>Output</a:t>
            </a:r>
            <a:endParaRPr lang="en-US" sz="3600" spc="101" dirty="0">
              <a:ln w="3175">
                <a:solidFill>
                  <a:srgbClr val="0044D6">
                    <a:alpha val="0"/>
                  </a:srgbClr>
                </a:solidFill>
              </a:ln>
              <a:solidFill>
                <a:srgbClr val="1464E2"/>
              </a:solidFill>
              <a:latin typeface="넥슨Lv2고딕 Bold" panose="00000800000000000000" pitchFamily="2" charset="-127"/>
              <a:ea typeface="넥슨Lv2고딕 Bold" panose="00000800000000000000" pitchFamily="2" charset="-127"/>
            </a:endParaRPr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8BE5D351-AA24-4558-BC02-B4A2B6A2599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0206" y="3734273"/>
            <a:ext cx="5406347" cy="3599816"/>
          </a:xfrm>
          <a:prstGeom prst="rect">
            <a:avLst/>
          </a:prstGeom>
        </p:spPr>
      </p:pic>
      <p:pic>
        <p:nvPicPr>
          <p:cNvPr id="5" name="그림 4">
            <a:extLst>
              <a:ext uri="{FF2B5EF4-FFF2-40B4-BE49-F238E27FC236}">
                <a16:creationId xmlns:a16="http://schemas.microsoft.com/office/drawing/2014/main" id="{F7BB1D17-BFCA-4B44-8D5E-6D78209F58C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2120476" y="3734275"/>
            <a:ext cx="5406347" cy="3599816"/>
          </a:xfrm>
          <a:prstGeom prst="rect">
            <a:avLst/>
          </a:prstGeom>
        </p:spPr>
      </p:pic>
      <p:pic>
        <p:nvPicPr>
          <p:cNvPr id="7" name="그림 6">
            <a:extLst>
              <a:ext uri="{FF2B5EF4-FFF2-40B4-BE49-F238E27FC236}">
                <a16:creationId xmlns:a16="http://schemas.microsoft.com/office/drawing/2014/main" id="{33084359-D939-4E12-B0EF-98BF318B9DD8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470444" y="3734276"/>
            <a:ext cx="5406347" cy="3599816"/>
          </a:xfrm>
          <a:prstGeom prst="rect">
            <a:avLst/>
          </a:prstGeom>
        </p:spPr>
      </p:pic>
      <p:sp>
        <p:nvSpPr>
          <p:cNvPr id="19" name="TextBox 18">
            <a:extLst>
              <a:ext uri="{FF2B5EF4-FFF2-40B4-BE49-F238E27FC236}">
                <a16:creationId xmlns:a16="http://schemas.microsoft.com/office/drawing/2014/main" id="{5A4C8C5D-CC44-4439-AEEE-73747088A68F}"/>
              </a:ext>
            </a:extLst>
          </p:cNvPr>
          <p:cNvSpPr txBox="1"/>
          <p:nvPr/>
        </p:nvSpPr>
        <p:spPr>
          <a:xfrm>
            <a:off x="7805495" y="3074834"/>
            <a:ext cx="2524618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ko-KR" sz="2400" b="1" spc="101" dirty="0">
                <a:ln w="3175">
                  <a:solidFill>
                    <a:srgbClr val="0044D6">
                      <a:alpha val="0"/>
                    </a:srgbClr>
                  </a:solidFill>
                </a:ln>
                <a:latin typeface="넥슨Lv2고딕" panose="00000500000000000000" pitchFamily="2" charset="-127"/>
                <a:ea typeface="넥슨Lv2고딕" panose="00000500000000000000" pitchFamily="2" charset="-127"/>
              </a:rPr>
              <a:t>Our Result</a:t>
            </a:r>
            <a:endParaRPr lang="ko-KR" altLang="en-US" sz="2400" b="1" dirty="0">
              <a:latin typeface="넥슨Lv2고딕" panose="00000500000000000000" pitchFamily="2" charset="-127"/>
              <a:ea typeface="넥슨Lv2고딕" panose="00000500000000000000" pitchFamily="2" charset="-127"/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355574BE-E7DE-4058-8BE8-02B5A904186D}"/>
              </a:ext>
            </a:extLst>
          </p:cNvPr>
          <p:cNvSpPr txBox="1"/>
          <p:nvPr/>
        </p:nvSpPr>
        <p:spPr>
          <a:xfrm>
            <a:off x="2362546" y="3067109"/>
            <a:ext cx="2524618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ko-KR" sz="2400" b="1" spc="101" dirty="0">
                <a:ln w="3175">
                  <a:solidFill>
                    <a:srgbClr val="0044D6">
                      <a:alpha val="0"/>
                    </a:srgbClr>
                  </a:solidFill>
                </a:ln>
                <a:latin typeface="넥슨Lv2고딕" panose="00000500000000000000" pitchFamily="2" charset="-127"/>
                <a:ea typeface="넥슨Lv2고딕" panose="00000500000000000000" pitchFamily="2" charset="-127"/>
              </a:rPr>
              <a:t>Input</a:t>
            </a:r>
            <a:endParaRPr lang="ko-KR" altLang="en-US" sz="2400" b="1" dirty="0">
              <a:latin typeface="넥슨Lv2고딕" panose="00000500000000000000" pitchFamily="2" charset="-127"/>
              <a:ea typeface="넥슨Lv2고딕" panose="00000500000000000000" pitchFamily="2" charset="-127"/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72A714BE-AB79-4EC1-B3AC-59ED3B85F644}"/>
              </a:ext>
            </a:extLst>
          </p:cNvPr>
          <p:cNvSpPr txBox="1"/>
          <p:nvPr/>
        </p:nvSpPr>
        <p:spPr>
          <a:xfrm>
            <a:off x="13485143" y="3074834"/>
            <a:ext cx="2524618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ko-KR" sz="2400" b="1" spc="101" dirty="0">
                <a:ln w="3175">
                  <a:solidFill>
                    <a:srgbClr val="0044D6">
                      <a:alpha val="0"/>
                    </a:srgbClr>
                  </a:solidFill>
                </a:ln>
                <a:latin typeface="넥슨Lv2고딕" panose="00000500000000000000" pitchFamily="2" charset="-127"/>
                <a:ea typeface="넥슨Lv2고딕" panose="00000500000000000000" pitchFamily="2" charset="-127"/>
              </a:rPr>
              <a:t>Ground Truth</a:t>
            </a:r>
            <a:endParaRPr lang="ko-KR" altLang="en-US" sz="2400" b="1" dirty="0">
              <a:latin typeface="넥슨Lv2고딕" panose="00000500000000000000" pitchFamily="2" charset="-127"/>
              <a:ea typeface="넥슨Lv2고딕" panose="00000500000000000000" pitchFamily="2" charset="-127"/>
            </a:endParaRP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7D12094E-73D9-45DD-82B0-FD27C59487C4}"/>
              </a:ext>
            </a:extLst>
          </p:cNvPr>
          <p:cNvSpPr txBox="1"/>
          <p:nvPr/>
        </p:nvSpPr>
        <p:spPr>
          <a:xfrm>
            <a:off x="6967337" y="7581776"/>
            <a:ext cx="461494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ko-KR" sz="2400" spc="101" dirty="0">
                <a:ln w="3175">
                  <a:solidFill>
                    <a:srgbClr val="0044D6">
                      <a:alpha val="0"/>
                    </a:srgbClr>
                  </a:solidFill>
                </a:ln>
                <a:latin typeface="넥슨Lv2고딕" panose="00000500000000000000" pitchFamily="2" charset="-127"/>
                <a:ea typeface="넥슨Lv2고딕" panose="00000500000000000000" pitchFamily="2" charset="-127"/>
              </a:rPr>
              <a:t>(Angular error = 1.1</a:t>
            </a:r>
            <a:r>
              <a:rPr lang="ko-KR" altLang="en-US" sz="2400" spc="101" dirty="0">
                <a:ln w="3175">
                  <a:solidFill>
                    <a:srgbClr val="0044D6">
                      <a:alpha val="0"/>
                    </a:srgbClr>
                  </a:solidFill>
                </a:ln>
                <a:latin typeface="넥슨Lv2고딕" panose="00000500000000000000" pitchFamily="2" charset="-127"/>
                <a:ea typeface="넥슨Lv2고딕" panose="00000500000000000000" pitchFamily="2" charset="-127"/>
              </a:rPr>
              <a:t>˚</a:t>
            </a:r>
            <a:r>
              <a:rPr lang="en-US" altLang="ko-KR" sz="2400" spc="101" dirty="0">
                <a:ln w="3175">
                  <a:solidFill>
                    <a:srgbClr val="0044D6">
                      <a:alpha val="0"/>
                    </a:srgbClr>
                  </a:solidFill>
                </a:ln>
                <a:latin typeface="넥슨Lv2고딕" panose="00000500000000000000" pitchFamily="2" charset="-127"/>
                <a:ea typeface="넥슨Lv2고딕" panose="00000500000000000000" pitchFamily="2" charset="-127"/>
              </a:rPr>
              <a:t>)</a:t>
            </a:r>
            <a:endParaRPr lang="ko-KR" altLang="en-US" sz="2400" dirty="0">
              <a:latin typeface="넥슨Lv2고딕" panose="00000500000000000000" pitchFamily="2" charset="-127"/>
              <a:ea typeface="넥슨Lv2고딕" panose="00000500000000000000" pitchFamily="2" charset="-127"/>
            </a:endParaRPr>
          </a:p>
        </p:txBody>
      </p:sp>
      <p:sp>
        <p:nvSpPr>
          <p:cNvPr id="24" name="직사각형 23">
            <a:extLst>
              <a:ext uri="{FF2B5EF4-FFF2-40B4-BE49-F238E27FC236}">
                <a16:creationId xmlns:a16="http://schemas.microsoft.com/office/drawing/2014/main" id="{E51F7F56-2DF3-41BF-BA2D-DC0F45A74D2F}"/>
              </a:ext>
            </a:extLst>
          </p:cNvPr>
          <p:cNvSpPr/>
          <p:nvPr/>
        </p:nvSpPr>
        <p:spPr>
          <a:xfrm>
            <a:off x="467" y="9494778"/>
            <a:ext cx="18287066" cy="791959"/>
          </a:xfrm>
          <a:prstGeom prst="rect">
            <a:avLst/>
          </a:prstGeom>
          <a:solidFill>
            <a:srgbClr val="4E93F0">
              <a:alpha val="2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360"/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BBA9099F-2C94-45A9-844B-78ECE222D860}"/>
              </a:ext>
            </a:extLst>
          </p:cNvPr>
          <p:cNvSpPr txBox="1"/>
          <p:nvPr/>
        </p:nvSpPr>
        <p:spPr>
          <a:xfrm>
            <a:off x="1161610" y="9532897"/>
            <a:ext cx="15906786" cy="599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</a:pPr>
            <a:r>
              <a:rPr lang="ko-KR" altLang="en-US" sz="2400" dirty="0">
                <a:ln w="3175">
                  <a:solidFill>
                    <a:schemeClr val="tx1">
                      <a:lumMod val="65000"/>
                      <a:lumOff val="35000"/>
                      <a:alpha val="20000"/>
                    </a:schemeClr>
                  </a:solidFill>
                </a:ln>
                <a:latin typeface="넥슨Lv2고딕" panose="00000500000000000000" pitchFamily="2" charset="-127"/>
                <a:ea typeface="넥슨Lv2고딕" panose="00000500000000000000" pitchFamily="2" charset="-127"/>
                <a:sym typeface="Wingdings" panose="05000000000000000000" pitchFamily="2" charset="2"/>
              </a:rPr>
              <a:t>완성된 모델이 조명을 성공적으로 제거하고 </a:t>
            </a:r>
            <a:r>
              <a:rPr lang="en-US" altLang="ko-KR" sz="2400" dirty="0">
                <a:ln w="3175">
                  <a:solidFill>
                    <a:schemeClr val="tx1">
                      <a:lumMod val="65000"/>
                      <a:lumOff val="35000"/>
                      <a:alpha val="20000"/>
                    </a:schemeClr>
                  </a:solidFill>
                </a:ln>
                <a:latin typeface="넥슨Lv2고딕" panose="00000500000000000000" pitchFamily="2" charset="-127"/>
                <a:ea typeface="넥슨Lv2고딕" panose="00000500000000000000" pitchFamily="2" charset="-127"/>
                <a:sym typeface="Wingdings" panose="05000000000000000000" pitchFamily="2" charset="2"/>
              </a:rPr>
              <a:t>Ground truth</a:t>
            </a:r>
            <a:r>
              <a:rPr lang="ko-KR" altLang="en-US" sz="2400" dirty="0">
                <a:ln w="3175">
                  <a:solidFill>
                    <a:schemeClr val="tx1">
                      <a:lumMod val="65000"/>
                      <a:lumOff val="35000"/>
                      <a:alpha val="20000"/>
                    </a:schemeClr>
                  </a:solidFill>
                </a:ln>
                <a:latin typeface="넥슨Lv2고딕" panose="00000500000000000000" pitchFamily="2" charset="-127"/>
                <a:ea typeface="넥슨Lv2고딕" panose="00000500000000000000" pitchFamily="2" charset="-127"/>
                <a:sym typeface="Wingdings" panose="05000000000000000000" pitchFamily="2" charset="2"/>
              </a:rPr>
              <a:t>와 가깝게 이미지를 변환해주는 것을 확인할 수 있음</a:t>
            </a:r>
            <a:endParaRPr lang="en-US" altLang="ko-KR" sz="2400" dirty="0">
              <a:ln w="3175">
                <a:solidFill>
                  <a:schemeClr val="tx1">
                    <a:lumMod val="65000"/>
                    <a:lumOff val="35000"/>
                    <a:alpha val="20000"/>
                  </a:schemeClr>
                </a:solidFill>
              </a:ln>
              <a:latin typeface="넥슨Lv2고딕" panose="00000500000000000000" pitchFamily="2" charset="-127"/>
              <a:ea typeface="넥슨Lv2고딕" panose="00000500000000000000" pitchFamily="2" charset="-127"/>
              <a:sym typeface="Wingdings" panose="05000000000000000000" pitchFamily="2" charset="2"/>
            </a:endParaRPr>
          </a:p>
        </p:txBody>
      </p:sp>
    </p:spTree>
    <p:extLst>
      <p:ext uri="{BB962C8B-B14F-4D97-AF65-F5344CB8AC3E}">
        <p14:creationId xmlns:p14="http://schemas.microsoft.com/office/powerpoint/2010/main" val="2026057027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eelOff"/>
      </p:transition>
    </mc:Choice>
    <mc:Fallback xmlns="">
      <p:transition spd="slow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" name="그룹 1001">
            <a:extLst>
              <a:ext uri="{FF2B5EF4-FFF2-40B4-BE49-F238E27FC236}">
                <a16:creationId xmlns:a16="http://schemas.microsoft.com/office/drawing/2014/main" id="{55CFA78B-DB81-400B-9995-9B2CE408C47A}"/>
              </a:ext>
            </a:extLst>
          </p:cNvPr>
          <p:cNvGrpSpPr/>
          <p:nvPr/>
        </p:nvGrpSpPr>
        <p:grpSpPr>
          <a:xfrm>
            <a:off x="777732" y="1641432"/>
            <a:ext cx="917523" cy="73244"/>
            <a:chOff x="1313068" y="2127719"/>
            <a:chExt cx="917569" cy="73247"/>
          </a:xfrm>
        </p:grpSpPr>
        <p:pic>
          <p:nvPicPr>
            <p:cNvPr id="17" name="Object 2">
              <a:extLst>
                <a:ext uri="{FF2B5EF4-FFF2-40B4-BE49-F238E27FC236}">
                  <a16:creationId xmlns:a16="http://schemas.microsoft.com/office/drawing/2014/main" id="{4286C98B-FE7D-4C87-BB68-11682AAF9A72}"/>
                </a:ext>
              </a:extLst>
            </p:cNvPr>
            <p:cNvPicPr>
              <a:picLocks noChangeAspect="1"/>
            </p:cNvPicPr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313068" y="2127719"/>
              <a:ext cx="917569" cy="73247"/>
            </a:xfrm>
            <a:prstGeom prst="rect">
              <a:avLst/>
            </a:prstGeom>
          </p:spPr>
        </p:pic>
      </p:grpSp>
      <p:sp>
        <p:nvSpPr>
          <p:cNvPr id="14" name="Object 31">
            <a:extLst>
              <a:ext uri="{FF2B5EF4-FFF2-40B4-BE49-F238E27FC236}">
                <a16:creationId xmlns:a16="http://schemas.microsoft.com/office/drawing/2014/main" id="{EBBA54AF-072B-4BA3-8A89-197ABB143051}"/>
              </a:ext>
            </a:extLst>
          </p:cNvPr>
          <p:cNvSpPr txBox="1"/>
          <p:nvPr/>
        </p:nvSpPr>
        <p:spPr>
          <a:xfrm>
            <a:off x="590434" y="571734"/>
            <a:ext cx="10458316" cy="671297"/>
          </a:xfrm>
          <a:prstGeom prst="rect">
            <a:avLst/>
          </a:prstGeom>
          <a:noFill/>
        </p:spPr>
        <p:txBody>
          <a:bodyPr wrap="square" rtlCol="0"/>
          <a:lstStyle/>
          <a:p>
            <a:pPr algn="just">
              <a:lnSpc>
                <a:spcPct val="130000"/>
              </a:lnSpc>
            </a:pPr>
            <a:r>
              <a:rPr lang="en-US" altLang="ko-KR" sz="3600" spc="101" dirty="0">
                <a:ln w="3175">
                  <a:solidFill>
                    <a:srgbClr val="0044D6">
                      <a:alpha val="0"/>
                    </a:srgbClr>
                  </a:solidFill>
                </a:ln>
                <a:solidFill>
                  <a:srgbClr val="1464E2"/>
                </a:solidFill>
                <a:latin typeface="넥슨Lv2고딕 Bold" panose="00000800000000000000" pitchFamily="2" charset="-127"/>
                <a:ea typeface="넥슨Lv2고딕 Bold" panose="00000800000000000000" pitchFamily="2" charset="-127"/>
              </a:rPr>
              <a:t>Our Contribution</a:t>
            </a:r>
            <a:endParaRPr lang="en-US" sz="3600" spc="101" dirty="0">
              <a:ln w="3175">
                <a:solidFill>
                  <a:srgbClr val="0044D6">
                    <a:alpha val="0"/>
                  </a:srgbClr>
                </a:solidFill>
              </a:ln>
              <a:solidFill>
                <a:srgbClr val="1464E2"/>
              </a:solidFill>
              <a:latin typeface="넥슨Lv2고딕 Bold" panose="00000800000000000000" pitchFamily="2" charset="-127"/>
              <a:ea typeface="넥슨Lv2고딕 Bold" panose="00000800000000000000" pitchFamily="2" charset="-127"/>
            </a:endParaRPr>
          </a:p>
        </p:txBody>
      </p:sp>
      <p:sp>
        <p:nvSpPr>
          <p:cNvPr id="2" name="사각형: 둥근 모서리 1">
            <a:extLst>
              <a:ext uri="{FF2B5EF4-FFF2-40B4-BE49-F238E27FC236}">
                <a16:creationId xmlns:a16="http://schemas.microsoft.com/office/drawing/2014/main" id="{C190C850-4507-44E1-B010-EF65D6CF13D7}"/>
              </a:ext>
            </a:extLst>
          </p:cNvPr>
          <p:cNvSpPr/>
          <p:nvPr/>
        </p:nvSpPr>
        <p:spPr>
          <a:xfrm>
            <a:off x="1695254" y="3154302"/>
            <a:ext cx="15119229" cy="1439926"/>
          </a:xfrm>
          <a:prstGeom prst="roundRect">
            <a:avLst>
              <a:gd name="adj" fmla="val 8021"/>
            </a:avLst>
          </a:prstGeom>
          <a:noFill/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lvl="1" algn="ctr">
              <a:lnSpc>
                <a:spcPct val="150000"/>
              </a:lnSpc>
            </a:pPr>
            <a:r>
              <a:rPr lang="en-US" altLang="ko-KR" sz="2400" dirty="0">
                <a:ln w="3175">
                  <a:solidFill>
                    <a:schemeClr val="tx1">
                      <a:lumMod val="65000"/>
                      <a:lumOff val="35000"/>
                      <a:alpha val="20000"/>
                    </a:schemeClr>
                  </a:solidFill>
                </a:ln>
                <a:solidFill>
                  <a:schemeClr val="tx1"/>
                </a:solidFill>
                <a:latin typeface="넥슨Lv2고딕" panose="00000500000000000000" pitchFamily="2" charset="-127"/>
                <a:ea typeface="넥슨Lv2고딕" panose="00000500000000000000" pitchFamily="2" charset="-127"/>
                <a:sym typeface="Wingdings" panose="05000000000000000000" pitchFamily="2" charset="2"/>
              </a:rPr>
              <a:t>Pre-trained general model </a:t>
            </a:r>
            <a:r>
              <a:rPr lang="ko-KR" altLang="en-US" sz="2400" dirty="0">
                <a:ln w="3175">
                  <a:solidFill>
                    <a:schemeClr val="tx1">
                      <a:lumMod val="65000"/>
                      <a:lumOff val="35000"/>
                      <a:alpha val="20000"/>
                    </a:schemeClr>
                  </a:solidFill>
                </a:ln>
                <a:solidFill>
                  <a:schemeClr val="tx1"/>
                </a:solidFill>
                <a:latin typeface="넥슨Lv2고딕" panose="00000500000000000000" pitchFamily="2" charset="-127"/>
                <a:ea typeface="넥슨Lv2고딕" panose="00000500000000000000" pitchFamily="2" charset="-127"/>
                <a:sym typeface="Wingdings" panose="05000000000000000000" pitchFamily="2" charset="2"/>
              </a:rPr>
              <a:t>만으로도 기존 모델의 성능을 뛰어 넘는 좋은 모델</a:t>
            </a:r>
            <a:r>
              <a:rPr lang="en-US" altLang="ko-KR" sz="2400" dirty="0">
                <a:ln w="3175">
                  <a:solidFill>
                    <a:schemeClr val="tx1">
                      <a:lumMod val="65000"/>
                      <a:lumOff val="35000"/>
                      <a:alpha val="20000"/>
                    </a:schemeClr>
                  </a:solidFill>
                </a:ln>
                <a:solidFill>
                  <a:schemeClr val="tx1"/>
                </a:solidFill>
                <a:latin typeface="넥슨Lv2고딕" panose="00000500000000000000" pitchFamily="2" charset="-127"/>
                <a:ea typeface="넥슨Lv2고딕" panose="00000500000000000000" pitchFamily="2" charset="-127"/>
                <a:sym typeface="Wingdings" panose="05000000000000000000" pitchFamily="2" charset="2"/>
              </a:rPr>
              <a:t> </a:t>
            </a:r>
            <a:r>
              <a:rPr lang="ko-KR" altLang="en-US" sz="2400" dirty="0">
                <a:ln w="3175">
                  <a:solidFill>
                    <a:schemeClr val="tx1">
                      <a:lumMod val="65000"/>
                      <a:lumOff val="35000"/>
                      <a:alpha val="20000"/>
                    </a:schemeClr>
                  </a:solidFill>
                </a:ln>
                <a:solidFill>
                  <a:schemeClr val="tx1"/>
                </a:solidFill>
                <a:latin typeface="넥슨Lv2고딕" panose="00000500000000000000" pitchFamily="2" charset="-127"/>
                <a:ea typeface="넥슨Lv2고딕" panose="00000500000000000000" pitchFamily="2" charset="-127"/>
                <a:sym typeface="Wingdings" panose="05000000000000000000" pitchFamily="2" charset="2"/>
              </a:rPr>
              <a:t>완성</a:t>
            </a:r>
          </a:p>
        </p:txBody>
      </p:sp>
      <p:sp>
        <p:nvSpPr>
          <p:cNvPr id="7" name="사각형: 둥근 모서리 6">
            <a:extLst>
              <a:ext uri="{FF2B5EF4-FFF2-40B4-BE49-F238E27FC236}">
                <a16:creationId xmlns:a16="http://schemas.microsoft.com/office/drawing/2014/main" id="{DF70EA4D-8F97-4B2F-847B-4691D8E1DEC6}"/>
              </a:ext>
            </a:extLst>
          </p:cNvPr>
          <p:cNvSpPr/>
          <p:nvPr/>
        </p:nvSpPr>
        <p:spPr>
          <a:xfrm>
            <a:off x="1695254" y="5105252"/>
            <a:ext cx="15119229" cy="1439926"/>
          </a:xfrm>
          <a:prstGeom prst="roundRect">
            <a:avLst>
              <a:gd name="adj" fmla="val 8021"/>
            </a:avLst>
          </a:prstGeom>
          <a:noFill/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lvl="1" algn="ctr">
              <a:lnSpc>
                <a:spcPct val="150000"/>
              </a:lnSpc>
            </a:pPr>
            <a:r>
              <a:rPr lang="en-US" altLang="ko-KR" sz="2400" dirty="0">
                <a:ln w="3175">
                  <a:solidFill>
                    <a:schemeClr val="tx1">
                      <a:lumMod val="65000"/>
                      <a:lumOff val="35000"/>
                      <a:alpha val="20000"/>
                    </a:schemeClr>
                  </a:solidFill>
                </a:ln>
                <a:solidFill>
                  <a:schemeClr val="tx1"/>
                </a:solidFill>
                <a:latin typeface="넥슨Lv2고딕" panose="00000500000000000000" pitchFamily="2" charset="-127"/>
                <a:ea typeface="넥슨Lv2고딕" panose="00000500000000000000" pitchFamily="2" charset="-127"/>
                <a:sym typeface="Wingdings" panose="05000000000000000000" pitchFamily="2" charset="2"/>
              </a:rPr>
              <a:t>Color constancy</a:t>
            </a:r>
            <a:r>
              <a:rPr lang="ko-KR" altLang="en-US" sz="2400" dirty="0">
                <a:ln w="3175">
                  <a:solidFill>
                    <a:schemeClr val="tx1">
                      <a:lumMod val="65000"/>
                      <a:lumOff val="35000"/>
                      <a:alpha val="20000"/>
                    </a:schemeClr>
                  </a:solidFill>
                </a:ln>
                <a:solidFill>
                  <a:schemeClr val="tx1"/>
                </a:solidFill>
                <a:latin typeface="넥슨Lv2고딕" panose="00000500000000000000" pitchFamily="2" charset="-127"/>
                <a:ea typeface="넥슨Lv2고딕" panose="00000500000000000000" pitchFamily="2" charset="-127"/>
                <a:sym typeface="Wingdings" panose="05000000000000000000" pitchFamily="2" charset="2"/>
              </a:rPr>
              <a:t>의 카메라 의존성을 해결함에 있어 메타러닝</a:t>
            </a:r>
            <a:r>
              <a:rPr lang="en-US" altLang="ko-KR" sz="2400" dirty="0">
                <a:ln w="3175">
                  <a:solidFill>
                    <a:schemeClr val="tx1">
                      <a:lumMod val="65000"/>
                      <a:lumOff val="35000"/>
                      <a:alpha val="20000"/>
                    </a:schemeClr>
                  </a:solidFill>
                </a:ln>
                <a:solidFill>
                  <a:schemeClr val="tx1"/>
                </a:solidFill>
                <a:latin typeface="넥슨Lv2고딕" panose="00000500000000000000" pitchFamily="2" charset="-127"/>
                <a:ea typeface="넥슨Lv2고딕" panose="00000500000000000000" pitchFamily="2" charset="-127"/>
                <a:sym typeface="Wingdings" panose="05000000000000000000" pitchFamily="2" charset="2"/>
              </a:rPr>
              <a:t>(MAML)</a:t>
            </a:r>
            <a:r>
              <a:rPr lang="ko-KR" altLang="en-US" sz="2400" dirty="0">
                <a:ln w="3175">
                  <a:solidFill>
                    <a:schemeClr val="tx1">
                      <a:lumMod val="65000"/>
                      <a:lumOff val="35000"/>
                      <a:alpha val="20000"/>
                    </a:schemeClr>
                  </a:solidFill>
                </a:ln>
                <a:solidFill>
                  <a:schemeClr val="tx1"/>
                </a:solidFill>
                <a:latin typeface="넥슨Lv2고딕" panose="00000500000000000000" pitchFamily="2" charset="-127"/>
                <a:ea typeface="넥슨Lv2고딕" panose="00000500000000000000" pitchFamily="2" charset="-127"/>
                <a:sym typeface="Wingdings" panose="05000000000000000000" pitchFamily="2" charset="2"/>
              </a:rPr>
              <a:t>이 매우 유효한 방법이라는 것을 알아냄</a:t>
            </a:r>
          </a:p>
        </p:txBody>
      </p:sp>
      <p:sp>
        <p:nvSpPr>
          <p:cNvPr id="8" name="사각형: 둥근 모서리 7">
            <a:extLst>
              <a:ext uri="{FF2B5EF4-FFF2-40B4-BE49-F238E27FC236}">
                <a16:creationId xmlns:a16="http://schemas.microsoft.com/office/drawing/2014/main" id="{81775C1C-9701-4DE7-8A06-44A1EB2D3BC4}"/>
              </a:ext>
            </a:extLst>
          </p:cNvPr>
          <p:cNvSpPr/>
          <p:nvPr/>
        </p:nvSpPr>
        <p:spPr>
          <a:xfrm>
            <a:off x="1695254" y="7056202"/>
            <a:ext cx="15119229" cy="1439926"/>
          </a:xfrm>
          <a:prstGeom prst="roundRect">
            <a:avLst>
              <a:gd name="adj" fmla="val 8021"/>
            </a:avLst>
          </a:prstGeom>
          <a:noFill/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lvl="1" algn="ctr">
              <a:lnSpc>
                <a:spcPct val="150000"/>
              </a:lnSpc>
            </a:pPr>
            <a:r>
              <a:rPr lang="ko-KR" altLang="en-US" sz="2400" dirty="0">
                <a:ln w="3175">
                  <a:solidFill>
                    <a:schemeClr val="tx1">
                      <a:lumMod val="65000"/>
                      <a:lumOff val="35000"/>
                      <a:alpha val="20000"/>
                    </a:schemeClr>
                  </a:solidFill>
                </a:ln>
                <a:solidFill>
                  <a:schemeClr val="tx1"/>
                </a:solidFill>
                <a:latin typeface="넥슨Lv2고딕" panose="00000500000000000000" pitchFamily="2" charset="-127"/>
                <a:ea typeface="넥슨Lv2고딕" panose="00000500000000000000" pitchFamily="2" charset="-127"/>
                <a:sym typeface="Wingdings" panose="05000000000000000000" pitchFamily="2" charset="2"/>
              </a:rPr>
              <a:t>그 동안 분류나 강화학습에 적용되어 오던 메타러닝을 </a:t>
            </a:r>
            <a:r>
              <a:rPr lang="en-US" altLang="ko-KR" sz="2400" dirty="0">
                <a:ln w="3175">
                  <a:solidFill>
                    <a:schemeClr val="tx1">
                      <a:lumMod val="65000"/>
                      <a:lumOff val="35000"/>
                      <a:alpha val="20000"/>
                    </a:schemeClr>
                  </a:solidFill>
                </a:ln>
                <a:solidFill>
                  <a:schemeClr val="tx1"/>
                </a:solidFill>
                <a:latin typeface="넥슨Lv2고딕" panose="00000500000000000000" pitchFamily="2" charset="-127"/>
                <a:ea typeface="넥슨Lv2고딕" panose="00000500000000000000" pitchFamily="2" charset="-127"/>
                <a:sym typeface="Wingdings" panose="05000000000000000000" pitchFamily="2" charset="2"/>
              </a:rPr>
              <a:t>color constancy </a:t>
            </a:r>
            <a:r>
              <a:rPr lang="ko-KR" altLang="en-US" sz="2400" dirty="0">
                <a:ln w="3175">
                  <a:solidFill>
                    <a:schemeClr val="tx1">
                      <a:lumMod val="65000"/>
                      <a:lumOff val="35000"/>
                      <a:alpha val="20000"/>
                    </a:schemeClr>
                  </a:solidFill>
                </a:ln>
                <a:solidFill>
                  <a:schemeClr val="tx1"/>
                </a:solidFill>
                <a:latin typeface="넥슨Lv2고딕" panose="00000500000000000000" pitchFamily="2" charset="-127"/>
                <a:ea typeface="넥슨Lv2고딕" panose="00000500000000000000" pitchFamily="2" charset="-127"/>
                <a:sym typeface="Wingdings" panose="05000000000000000000" pitchFamily="2" charset="2"/>
              </a:rPr>
              <a:t>태스크에도 적용하는 방안 도출</a:t>
            </a:r>
            <a:endParaRPr lang="en-US" altLang="ko-KR" sz="2400" dirty="0">
              <a:ln w="3175">
                <a:solidFill>
                  <a:schemeClr val="tx1">
                    <a:lumMod val="65000"/>
                    <a:lumOff val="35000"/>
                    <a:alpha val="20000"/>
                  </a:schemeClr>
                </a:solidFill>
              </a:ln>
              <a:solidFill>
                <a:schemeClr val="tx1"/>
              </a:solidFill>
              <a:latin typeface="넥슨Lv2고딕" panose="00000500000000000000" pitchFamily="2" charset="-127"/>
              <a:ea typeface="넥슨Lv2고딕" panose="00000500000000000000" pitchFamily="2" charset="-127"/>
              <a:sym typeface="Wingdings" panose="05000000000000000000" pitchFamily="2" charset="2"/>
            </a:endParaRPr>
          </a:p>
        </p:txBody>
      </p:sp>
    </p:spTree>
    <p:extLst>
      <p:ext uri="{BB962C8B-B14F-4D97-AF65-F5344CB8AC3E}">
        <p14:creationId xmlns:p14="http://schemas.microsoft.com/office/powerpoint/2010/main" val="3914210516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eelOff"/>
      </p:transition>
    </mc:Choice>
    <mc:Fallback xmlns="">
      <p:transition spd="slow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표 3">
            <a:extLst>
              <a:ext uri="{FF2B5EF4-FFF2-40B4-BE49-F238E27FC236}">
                <a16:creationId xmlns:a16="http://schemas.microsoft.com/office/drawing/2014/main" id="{820E9C16-B2DD-49F9-952B-11C515CA549A}"/>
              </a:ext>
            </a:extLst>
          </p:cNvPr>
          <p:cNvGraphicFramePr>
            <a:graphicFrameLocks noGrp="1"/>
          </p:cNvGraphicFramePr>
          <p:nvPr/>
        </p:nvGraphicFramePr>
        <p:xfrm>
          <a:off x="762427" y="2219250"/>
          <a:ext cx="16739145" cy="7271628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699862">
                  <a:extLst>
                    <a:ext uri="{9D8B030D-6E8A-4147-A177-3AD203B41FA5}">
                      <a16:colId xmlns:a16="http://schemas.microsoft.com/office/drawing/2014/main" val="2521286680"/>
                    </a:ext>
                  </a:extLst>
                </a:gridCol>
                <a:gridCol w="14039283">
                  <a:extLst>
                    <a:ext uri="{9D8B030D-6E8A-4147-A177-3AD203B41FA5}">
                      <a16:colId xmlns:a16="http://schemas.microsoft.com/office/drawing/2014/main" val="2214533226"/>
                    </a:ext>
                  </a:extLst>
                </a:gridCol>
              </a:tblGrid>
              <a:tr h="4931748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2200" spc="100" dirty="0">
                          <a:ln w="3175">
                            <a:solidFill>
                              <a:srgbClr val="0044D6">
                                <a:alpha val="0"/>
                              </a:srgbClr>
                            </a:solidFill>
                          </a:ln>
                          <a:solidFill>
                            <a:srgbClr val="1464E2"/>
                          </a:solidFill>
                          <a:latin typeface="넥슨Lv2고딕 Medium" panose="00000600000000000000" pitchFamily="2" charset="-127"/>
                          <a:ea typeface="넥슨Lv2고딕 Medium" panose="00000600000000000000" pitchFamily="2" charset="-127"/>
                        </a:rPr>
                        <a:t>Color </a:t>
                      </a:r>
                    </a:p>
                    <a:p>
                      <a:pPr algn="ctr" latinLnBrk="1"/>
                      <a:r>
                        <a:rPr lang="en-US" altLang="ko-KR" sz="2200" spc="100" dirty="0">
                          <a:ln w="3175">
                            <a:solidFill>
                              <a:srgbClr val="0044D6">
                                <a:alpha val="0"/>
                              </a:srgbClr>
                            </a:solidFill>
                          </a:ln>
                          <a:solidFill>
                            <a:srgbClr val="1464E2"/>
                          </a:solidFill>
                          <a:latin typeface="넥슨Lv2고딕 Medium" panose="00000600000000000000" pitchFamily="2" charset="-127"/>
                          <a:ea typeface="넥슨Lv2고딕 Medium" panose="00000600000000000000" pitchFamily="2" charset="-127"/>
                        </a:rPr>
                        <a:t>Constancy</a:t>
                      </a:r>
                    </a:p>
                  </a:txBody>
                  <a:tcPr marL="91435" marR="91435" marT="45718" marB="45718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449263" indent="-342900">
                        <a:lnSpc>
                          <a:spcPct val="140000"/>
                        </a:lnSpc>
                        <a:spcAft>
                          <a:spcPts val="100"/>
                        </a:spcAft>
                        <a:buFont typeface="Arial" panose="020B0604020202020204" pitchFamily="34" charset="0"/>
                        <a:buChar char="•"/>
                      </a:pPr>
                      <a:r>
                        <a:rPr lang="en-US" altLang="ko-KR" sz="2200" dirty="0">
                          <a:ln w="3175">
                            <a:solidFill>
                              <a:schemeClr val="tx1">
                                <a:lumMod val="65000"/>
                                <a:lumOff val="35000"/>
                                <a:alpha val="2000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넥슨Lv2고딕" panose="00000500000000000000" pitchFamily="2" charset="-127"/>
                          <a:ea typeface="넥슨Lv2고딕" panose="00000500000000000000" pitchFamily="2" charset="-127"/>
                          <a:sym typeface="Wingdings" panose="05000000000000000000" pitchFamily="2" charset="2"/>
                        </a:rPr>
                        <a:t>Barron, Jonathan T., and Yun-Ta Tsai. "Fast </a:t>
                      </a:r>
                      <a:r>
                        <a:rPr lang="en-US" altLang="ko-KR" sz="2200" dirty="0" err="1">
                          <a:ln w="3175">
                            <a:solidFill>
                              <a:schemeClr val="tx1">
                                <a:lumMod val="65000"/>
                                <a:lumOff val="35000"/>
                                <a:alpha val="2000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넥슨Lv2고딕" panose="00000500000000000000" pitchFamily="2" charset="-127"/>
                          <a:ea typeface="넥슨Lv2고딕" panose="00000500000000000000" pitchFamily="2" charset="-127"/>
                          <a:sym typeface="Wingdings" panose="05000000000000000000" pitchFamily="2" charset="2"/>
                        </a:rPr>
                        <a:t>fourier</a:t>
                      </a:r>
                      <a:r>
                        <a:rPr lang="en-US" altLang="ko-KR" sz="2200" dirty="0">
                          <a:ln w="3175">
                            <a:solidFill>
                              <a:schemeClr val="tx1">
                                <a:lumMod val="65000"/>
                                <a:lumOff val="35000"/>
                                <a:alpha val="2000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넥슨Lv2고딕" panose="00000500000000000000" pitchFamily="2" charset="-127"/>
                          <a:ea typeface="넥슨Lv2고딕" panose="00000500000000000000" pitchFamily="2" charset="-127"/>
                          <a:sym typeface="Wingdings" panose="05000000000000000000" pitchFamily="2" charset="2"/>
                        </a:rPr>
                        <a:t> color constancy." CVPR. 2017.</a:t>
                      </a:r>
                    </a:p>
                    <a:p>
                      <a:pPr marL="449263" indent="-342900">
                        <a:lnSpc>
                          <a:spcPct val="140000"/>
                        </a:lnSpc>
                        <a:spcAft>
                          <a:spcPts val="100"/>
                        </a:spcAft>
                        <a:buFont typeface="Arial" panose="020B0604020202020204" pitchFamily="34" charset="0"/>
                        <a:buChar char="•"/>
                      </a:pPr>
                      <a:r>
                        <a:rPr lang="en-US" altLang="ko-KR" sz="2200" dirty="0">
                          <a:ln w="3175">
                            <a:solidFill>
                              <a:schemeClr val="tx1">
                                <a:lumMod val="65000"/>
                                <a:lumOff val="35000"/>
                                <a:alpha val="2000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넥슨Lv2고딕" panose="00000500000000000000" pitchFamily="2" charset="-127"/>
                          <a:ea typeface="넥슨Lv2고딕" panose="00000500000000000000" pitchFamily="2" charset="-127"/>
                          <a:sym typeface="Wingdings" panose="05000000000000000000" pitchFamily="2" charset="2"/>
                        </a:rPr>
                        <a:t>Hu et</a:t>
                      </a:r>
                      <a:r>
                        <a:rPr lang="ko-KR" altLang="en-US" sz="2200" dirty="0">
                          <a:ln w="3175">
                            <a:solidFill>
                              <a:schemeClr val="tx1">
                                <a:lumMod val="65000"/>
                                <a:lumOff val="35000"/>
                                <a:alpha val="2000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넥슨Lv2고딕" panose="00000500000000000000" pitchFamily="2" charset="-127"/>
                          <a:ea typeface="넥슨Lv2고딕" panose="00000500000000000000" pitchFamily="2" charset="-127"/>
                          <a:sym typeface="Wingdings" panose="05000000000000000000" pitchFamily="2" charset="2"/>
                        </a:rPr>
                        <a:t> </a:t>
                      </a:r>
                      <a:r>
                        <a:rPr lang="en-US" altLang="ko-KR" sz="2200" dirty="0">
                          <a:ln w="3175">
                            <a:solidFill>
                              <a:schemeClr val="tx1">
                                <a:lumMod val="65000"/>
                                <a:lumOff val="35000"/>
                                <a:alpha val="2000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넥슨Lv2고딕" panose="00000500000000000000" pitchFamily="2" charset="-127"/>
                          <a:ea typeface="넥슨Lv2고딕" panose="00000500000000000000" pitchFamily="2" charset="-127"/>
                          <a:sym typeface="Wingdings" panose="05000000000000000000" pitchFamily="2" charset="2"/>
                        </a:rPr>
                        <a:t>al. "Fc4: Fully convolutional color constancy with confidence-weighted pooling." CVPR. 2017.</a:t>
                      </a:r>
                    </a:p>
                    <a:p>
                      <a:pPr marL="449263" marR="0" lvl="0" indent="-342900" algn="l" defTabSz="1371600" rtl="0" eaLnBrk="1" fontAlgn="auto" latinLnBrk="1" hangingPunct="1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10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US" altLang="ko-KR" sz="2200" dirty="0">
                          <a:ln w="3175">
                            <a:solidFill>
                              <a:schemeClr val="tx1">
                                <a:lumMod val="65000"/>
                                <a:lumOff val="35000"/>
                                <a:alpha val="2000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넥슨Lv2고딕" panose="00000500000000000000" pitchFamily="2" charset="-127"/>
                          <a:ea typeface="넥슨Lv2고딕" panose="00000500000000000000" pitchFamily="2" charset="-127"/>
                          <a:sym typeface="Wingdings" panose="05000000000000000000" pitchFamily="2" charset="2"/>
                        </a:rPr>
                        <a:t>Bianco, Simone, et al. "Color constancy using CNNs." CVPR. 2015.</a:t>
                      </a:r>
                    </a:p>
                    <a:p>
                      <a:pPr marL="449263" marR="0" lvl="0" indent="-342900" algn="l" defTabSz="1371600" rtl="0" eaLnBrk="1" fontAlgn="auto" latinLnBrk="1" hangingPunct="1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10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US" altLang="ko-KR" sz="2200" dirty="0">
                          <a:ln w="3175">
                            <a:solidFill>
                              <a:schemeClr val="tx1">
                                <a:lumMod val="65000"/>
                                <a:lumOff val="35000"/>
                                <a:alpha val="2000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넥슨Lv2고딕" panose="00000500000000000000" pitchFamily="2" charset="-127"/>
                          <a:ea typeface="넥슨Lv2고딕" panose="00000500000000000000" pitchFamily="2" charset="-127"/>
                          <a:sym typeface="Wingdings" panose="05000000000000000000" pitchFamily="2" charset="2"/>
                        </a:rPr>
                        <a:t>Afifi, Mahmoud, and Michael S. Brown. "Sensor-independent illumination estimation for DNN models." </a:t>
                      </a:r>
                      <a:r>
                        <a:rPr lang="en-US" altLang="ko-KR" sz="2200" dirty="0" err="1">
                          <a:ln w="3175">
                            <a:solidFill>
                              <a:schemeClr val="tx1">
                                <a:lumMod val="65000"/>
                                <a:lumOff val="35000"/>
                                <a:alpha val="2000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넥슨Lv2고딕" panose="00000500000000000000" pitchFamily="2" charset="-127"/>
                          <a:ea typeface="넥슨Lv2고딕" panose="00000500000000000000" pitchFamily="2" charset="-127"/>
                          <a:sym typeface="Wingdings" panose="05000000000000000000" pitchFamily="2" charset="2"/>
                        </a:rPr>
                        <a:t>arXiv</a:t>
                      </a:r>
                      <a:r>
                        <a:rPr lang="en-US" altLang="ko-KR" sz="2200" dirty="0">
                          <a:ln w="3175">
                            <a:solidFill>
                              <a:schemeClr val="tx1">
                                <a:lumMod val="65000"/>
                                <a:lumOff val="35000"/>
                                <a:alpha val="2000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넥슨Lv2고딕" panose="00000500000000000000" pitchFamily="2" charset="-127"/>
                          <a:ea typeface="넥슨Lv2고딕" panose="00000500000000000000" pitchFamily="2" charset="-127"/>
                          <a:sym typeface="Wingdings" panose="05000000000000000000" pitchFamily="2" charset="2"/>
                        </a:rPr>
                        <a:t> preprint arXiv:1912.06888 (2019).</a:t>
                      </a:r>
                    </a:p>
                    <a:p>
                      <a:pPr marL="449263" marR="0" lvl="0" indent="-342900" algn="l" defTabSz="1371600" rtl="0" eaLnBrk="1" fontAlgn="auto" latinLnBrk="1" hangingPunct="1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10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US" altLang="ko-KR" sz="2200" dirty="0">
                          <a:ln w="3175">
                            <a:solidFill>
                              <a:schemeClr val="tx1">
                                <a:lumMod val="65000"/>
                                <a:lumOff val="35000"/>
                                <a:alpha val="2000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넥슨Lv2고딕" panose="00000500000000000000" pitchFamily="2" charset="-127"/>
                          <a:ea typeface="넥슨Lv2고딕" panose="00000500000000000000" pitchFamily="2" charset="-127"/>
                          <a:sym typeface="Wingdings" panose="05000000000000000000" pitchFamily="2" charset="2"/>
                        </a:rPr>
                        <a:t>Gao, Shao-Bing, et al. "Improving color constancy by discounting the variation of camera spectral sensitivity." JOSA A 34.8 (2017): 1448-1462.</a:t>
                      </a:r>
                    </a:p>
                    <a:p>
                      <a:pPr marL="449263" marR="0" lvl="0" indent="-342900" algn="l" defTabSz="1371600" rtl="0" eaLnBrk="1" fontAlgn="auto" latinLnBrk="1" hangingPunct="1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10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US" altLang="ko-KR" sz="2200" dirty="0">
                          <a:ln w="3175">
                            <a:solidFill>
                              <a:schemeClr val="tx1">
                                <a:lumMod val="65000"/>
                                <a:lumOff val="35000"/>
                                <a:alpha val="2000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넥슨Lv2고딕" panose="00000500000000000000" pitchFamily="2" charset="-127"/>
                          <a:ea typeface="넥슨Lv2고딕" panose="00000500000000000000" pitchFamily="2" charset="-127"/>
                          <a:sym typeface="Wingdings" panose="05000000000000000000" pitchFamily="2" charset="2"/>
                        </a:rPr>
                        <a:t>Hernandez-Juarez et al, “A Multi-Hypothesis Approach to Color Constancy”, CVPR, 2020.</a:t>
                      </a:r>
                    </a:p>
                    <a:p>
                      <a:pPr marL="449263" marR="0" lvl="0" indent="-342900" algn="l" defTabSz="1371600" rtl="0" eaLnBrk="1" fontAlgn="auto" latinLnBrk="1" hangingPunct="1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10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US" altLang="ko-KR" sz="2200" dirty="0">
                          <a:ln w="3175">
                            <a:solidFill>
                              <a:schemeClr val="tx1">
                                <a:lumMod val="65000"/>
                                <a:lumOff val="35000"/>
                                <a:alpha val="2000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넥슨Lv2고딕" panose="00000500000000000000" pitchFamily="2" charset="-127"/>
                          <a:ea typeface="넥슨Lv2고딕" panose="00000500000000000000" pitchFamily="2" charset="-127"/>
                          <a:sym typeface="Wingdings" panose="05000000000000000000" pitchFamily="2" charset="2"/>
                        </a:rPr>
                        <a:t>Xiao et al, “Multi-Domain Learning for Accurate and Few-Shot Color Constancy”, CVPR, 2020.</a:t>
                      </a:r>
                    </a:p>
                  </a:txBody>
                  <a:tcPr marL="91435" marR="91435" marT="45718" marB="45718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641584274"/>
                  </a:ext>
                </a:extLst>
              </a:tr>
              <a:tr h="2339880">
                <a:tc>
                  <a:txBody>
                    <a:bodyPr/>
                    <a:lstStyle/>
                    <a:p>
                      <a:pPr marL="0" algn="ctr" defTabSz="1371600" rtl="0" eaLnBrk="1" latinLnBrk="1" hangingPunct="1"/>
                      <a:r>
                        <a:rPr lang="en-US" altLang="ko-KR" sz="2200" kern="1200" spc="100" dirty="0">
                          <a:ln w="3175">
                            <a:solidFill>
                              <a:srgbClr val="0044D6">
                                <a:alpha val="0"/>
                              </a:srgbClr>
                            </a:solidFill>
                          </a:ln>
                          <a:solidFill>
                            <a:srgbClr val="1464E2"/>
                          </a:solidFill>
                          <a:latin typeface="넥슨Lv2고딕 Medium" panose="00000600000000000000" pitchFamily="2" charset="-127"/>
                          <a:ea typeface="넥슨Lv2고딕 Medium" panose="00000600000000000000" pitchFamily="2" charset="-127"/>
                          <a:cs typeface="+mn-cs"/>
                        </a:rPr>
                        <a:t>Few-shot &amp; </a:t>
                      </a:r>
                    </a:p>
                    <a:p>
                      <a:pPr marL="0" algn="ctr" defTabSz="1371600" rtl="0" eaLnBrk="1" latinLnBrk="1" hangingPunct="1"/>
                      <a:r>
                        <a:rPr lang="en-US" altLang="ko-KR" sz="2200" kern="1200" spc="100" dirty="0">
                          <a:ln w="3175">
                            <a:solidFill>
                              <a:srgbClr val="0044D6">
                                <a:alpha val="0"/>
                              </a:srgbClr>
                            </a:solidFill>
                          </a:ln>
                          <a:solidFill>
                            <a:srgbClr val="1464E2"/>
                          </a:solidFill>
                          <a:latin typeface="넥슨Lv2고딕 Medium" panose="00000600000000000000" pitchFamily="2" charset="-127"/>
                          <a:ea typeface="넥슨Lv2고딕 Medium" panose="00000600000000000000" pitchFamily="2" charset="-127"/>
                          <a:cs typeface="+mn-cs"/>
                        </a:rPr>
                        <a:t>Meta Learning</a:t>
                      </a:r>
                      <a:endParaRPr lang="ko-KR" altLang="en-US" sz="2200" kern="1200" spc="100" dirty="0">
                        <a:ln w="3175">
                          <a:solidFill>
                            <a:srgbClr val="0044D6">
                              <a:alpha val="0"/>
                            </a:srgbClr>
                          </a:solidFill>
                        </a:ln>
                        <a:solidFill>
                          <a:srgbClr val="1464E2"/>
                        </a:solidFill>
                        <a:latin typeface="넥슨Lv2고딕 Medium" panose="00000600000000000000" pitchFamily="2" charset="-127"/>
                        <a:ea typeface="넥슨Lv2고딕 Medium" panose="00000600000000000000" pitchFamily="2" charset="-127"/>
                        <a:cs typeface="+mn-cs"/>
                      </a:endParaRPr>
                    </a:p>
                  </a:txBody>
                  <a:tcPr marL="91435" marR="91435" marT="45718" marB="45718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449263" marR="0" lvl="0" indent="-342900" algn="l" defTabSz="1371600" rtl="0" eaLnBrk="1" fontAlgn="auto" latinLnBrk="1" hangingPunct="1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10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US" altLang="ko-KR" sz="2200" dirty="0">
                          <a:ln w="3175">
                            <a:solidFill>
                              <a:schemeClr val="tx1">
                                <a:lumMod val="65000"/>
                                <a:lumOff val="35000"/>
                                <a:alpha val="2000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넥슨Lv2고딕" panose="00000500000000000000" pitchFamily="2" charset="-127"/>
                          <a:ea typeface="넥슨Lv2고딕" panose="00000500000000000000" pitchFamily="2" charset="-127"/>
                          <a:sym typeface="Wingdings" panose="05000000000000000000" pitchFamily="2" charset="2"/>
                        </a:rPr>
                        <a:t>Finn, Chelsea, et al. "Model-agnostic meta-learning for fast adaptation of deep networks." International Conference on Machine Learning. PMLR, 2017.</a:t>
                      </a:r>
                    </a:p>
                    <a:p>
                      <a:pPr marL="449263" marR="0" lvl="0" indent="-342900" algn="l" defTabSz="1371600" rtl="0" eaLnBrk="1" fontAlgn="auto" latinLnBrk="1" hangingPunct="1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10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US" altLang="ko-KR" sz="2200" dirty="0">
                          <a:ln w="3175">
                            <a:solidFill>
                              <a:schemeClr val="tx1">
                                <a:lumMod val="65000"/>
                                <a:lumOff val="35000"/>
                                <a:alpha val="2000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넥슨Lv2고딕" panose="00000500000000000000" pitchFamily="2" charset="-127"/>
                          <a:ea typeface="넥슨Lv2고딕" panose="00000500000000000000" pitchFamily="2" charset="-127"/>
                          <a:sym typeface="Wingdings" panose="05000000000000000000" pitchFamily="2" charset="2"/>
                        </a:rPr>
                        <a:t>Tian, </a:t>
                      </a:r>
                      <a:r>
                        <a:rPr lang="en-US" altLang="ko-KR" sz="2200" dirty="0" err="1">
                          <a:ln w="3175">
                            <a:solidFill>
                              <a:schemeClr val="tx1">
                                <a:lumMod val="65000"/>
                                <a:lumOff val="35000"/>
                                <a:alpha val="2000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넥슨Lv2고딕" panose="00000500000000000000" pitchFamily="2" charset="-127"/>
                          <a:ea typeface="넥슨Lv2고딕" panose="00000500000000000000" pitchFamily="2" charset="-127"/>
                          <a:sym typeface="Wingdings" panose="05000000000000000000" pitchFamily="2" charset="2"/>
                        </a:rPr>
                        <a:t>Yonglong</a:t>
                      </a:r>
                      <a:r>
                        <a:rPr lang="en-US" altLang="ko-KR" sz="2200" dirty="0">
                          <a:ln w="3175">
                            <a:solidFill>
                              <a:schemeClr val="tx1">
                                <a:lumMod val="65000"/>
                                <a:lumOff val="35000"/>
                                <a:alpha val="2000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넥슨Lv2고딕" panose="00000500000000000000" pitchFamily="2" charset="-127"/>
                          <a:ea typeface="넥슨Lv2고딕" panose="00000500000000000000" pitchFamily="2" charset="-127"/>
                          <a:sym typeface="Wingdings" panose="05000000000000000000" pitchFamily="2" charset="2"/>
                        </a:rPr>
                        <a:t>, et al. "Rethinking few-shot image classification: a good embedding is all you need?." </a:t>
                      </a:r>
                      <a:r>
                        <a:rPr lang="en-US" altLang="ko-KR" sz="2200" dirty="0" err="1">
                          <a:ln w="3175">
                            <a:solidFill>
                              <a:schemeClr val="tx1">
                                <a:lumMod val="65000"/>
                                <a:lumOff val="35000"/>
                                <a:alpha val="2000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넥슨Lv2고딕" panose="00000500000000000000" pitchFamily="2" charset="-127"/>
                          <a:ea typeface="넥슨Lv2고딕" panose="00000500000000000000" pitchFamily="2" charset="-127"/>
                          <a:sym typeface="Wingdings" panose="05000000000000000000" pitchFamily="2" charset="2"/>
                        </a:rPr>
                        <a:t>arXiv</a:t>
                      </a:r>
                      <a:r>
                        <a:rPr lang="en-US" altLang="ko-KR" sz="2200" dirty="0">
                          <a:ln w="3175">
                            <a:solidFill>
                              <a:schemeClr val="tx1">
                                <a:lumMod val="65000"/>
                                <a:lumOff val="35000"/>
                                <a:alpha val="2000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넥슨Lv2고딕" panose="00000500000000000000" pitchFamily="2" charset="-127"/>
                          <a:ea typeface="넥슨Lv2고딕" panose="00000500000000000000" pitchFamily="2" charset="-127"/>
                          <a:sym typeface="Wingdings" panose="05000000000000000000" pitchFamily="2" charset="2"/>
                        </a:rPr>
                        <a:t> preprint arXiv:2003.11539 (2020).</a:t>
                      </a:r>
                    </a:p>
                  </a:txBody>
                  <a:tcPr marL="91435" marR="91435" marT="45718" marB="45718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93082039"/>
                  </a:ext>
                </a:extLst>
              </a:tr>
            </a:tbl>
          </a:graphicData>
        </a:graphic>
      </p:graphicFrame>
      <p:grpSp>
        <p:nvGrpSpPr>
          <p:cNvPr id="16" name="그룹 1001">
            <a:extLst>
              <a:ext uri="{FF2B5EF4-FFF2-40B4-BE49-F238E27FC236}">
                <a16:creationId xmlns:a16="http://schemas.microsoft.com/office/drawing/2014/main" id="{55CFA78B-DB81-400B-9995-9B2CE408C47A}"/>
              </a:ext>
            </a:extLst>
          </p:cNvPr>
          <p:cNvGrpSpPr/>
          <p:nvPr/>
        </p:nvGrpSpPr>
        <p:grpSpPr>
          <a:xfrm>
            <a:off x="777732" y="1641432"/>
            <a:ext cx="917523" cy="73244"/>
            <a:chOff x="1313068" y="2127719"/>
            <a:chExt cx="917569" cy="73247"/>
          </a:xfrm>
        </p:grpSpPr>
        <p:pic>
          <p:nvPicPr>
            <p:cNvPr id="17" name="Object 2">
              <a:extLst>
                <a:ext uri="{FF2B5EF4-FFF2-40B4-BE49-F238E27FC236}">
                  <a16:creationId xmlns:a16="http://schemas.microsoft.com/office/drawing/2014/main" id="{4286C98B-FE7D-4C87-BB68-11682AAF9A72}"/>
                </a:ext>
              </a:extLst>
            </p:cNvPr>
            <p:cNvPicPr>
              <a:picLocks noChangeAspect="1"/>
            </p:cNvPicPr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313068" y="2127719"/>
              <a:ext cx="917569" cy="73247"/>
            </a:xfrm>
            <a:prstGeom prst="rect">
              <a:avLst/>
            </a:prstGeom>
          </p:spPr>
        </p:pic>
      </p:grpSp>
      <p:sp>
        <p:nvSpPr>
          <p:cNvPr id="14" name="Object 31">
            <a:extLst>
              <a:ext uri="{FF2B5EF4-FFF2-40B4-BE49-F238E27FC236}">
                <a16:creationId xmlns:a16="http://schemas.microsoft.com/office/drawing/2014/main" id="{EBBA54AF-072B-4BA3-8A89-197ABB143051}"/>
              </a:ext>
            </a:extLst>
          </p:cNvPr>
          <p:cNvSpPr txBox="1"/>
          <p:nvPr/>
        </p:nvSpPr>
        <p:spPr>
          <a:xfrm>
            <a:off x="666784" y="574687"/>
            <a:ext cx="10458316" cy="671297"/>
          </a:xfrm>
          <a:prstGeom prst="rect">
            <a:avLst/>
          </a:prstGeom>
          <a:noFill/>
        </p:spPr>
        <p:txBody>
          <a:bodyPr wrap="square" rtlCol="0"/>
          <a:lstStyle/>
          <a:p>
            <a:pPr algn="just">
              <a:lnSpc>
                <a:spcPct val="130000"/>
              </a:lnSpc>
            </a:pPr>
            <a:r>
              <a:rPr lang="en-US" sz="3600" spc="101" dirty="0">
                <a:ln w="3175">
                  <a:solidFill>
                    <a:srgbClr val="0044D6">
                      <a:alpha val="0"/>
                    </a:srgbClr>
                  </a:solidFill>
                </a:ln>
                <a:solidFill>
                  <a:srgbClr val="1464E2"/>
                </a:solidFill>
                <a:latin typeface="넥슨Lv2고딕 Bold" panose="00000800000000000000" pitchFamily="2" charset="-127"/>
                <a:ea typeface="넥슨Lv2고딕 Bold" panose="00000800000000000000" pitchFamily="2" charset="-127"/>
              </a:rPr>
              <a:t>References</a:t>
            </a:r>
          </a:p>
        </p:txBody>
      </p:sp>
    </p:spTree>
    <p:extLst>
      <p:ext uri="{BB962C8B-B14F-4D97-AF65-F5344CB8AC3E}">
        <p14:creationId xmlns:p14="http://schemas.microsoft.com/office/powerpoint/2010/main" val="4270064704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eelOff"/>
      </p:transition>
    </mc:Choice>
    <mc:Fallback xmlns="">
      <p:transition spd="slow">
        <p:fade/>
      </p:transition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MS P????"/>
        <a:font script="Hang" typeface="?? ??"/>
        <a:font script="Hans" typeface="??"/>
        <a:font script="Hant" typeface="????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MS P????"/>
        <a:font script="Hang" typeface="?? ??"/>
        <a:font script="Hans" typeface="??"/>
        <a:font script="Hant" typeface="????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6501</TotalTime>
  <Words>773</Words>
  <Application>Microsoft Office PowerPoint</Application>
  <PresentationFormat>사용자 지정</PresentationFormat>
  <Paragraphs>181</Paragraphs>
  <Slides>13</Slides>
  <Notes>9</Notes>
  <HiddenSlides>0</HiddenSlides>
  <MMClips>0</MMClips>
  <ScaleCrop>false</ScaleCrop>
  <HeadingPairs>
    <vt:vector size="6" baseType="variant">
      <vt:variant>
        <vt:lpstr>사용한 글꼴</vt:lpstr>
      </vt:variant>
      <vt:variant>
        <vt:i4>8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13</vt:i4>
      </vt:variant>
    </vt:vector>
  </HeadingPairs>
  <TitlesOfParts>
    <vt:vector size="22" baseType="lpstr">
      <vt:lpstr>Consolas</vt:lpstr>
      <vt:lpstr>넥슨Lv2고딕 Bold</vt:lpstr>
      <vt:lpstr>Calibri</vt:lpstr>
      <vt:lpstr>Arial</vt:lpstr>
      <vt:lpstr>맑은 고딕</vt:lpstr>
      <vt:lpstr>넥슨Lv2고딕 Medium</vt:lpstr>
      <vt:lpstr>넥슨Lv2고딕</vt:lpstr>
      <vt:lpstr>Wingdings</vt:lpstr>
      <vt:lpstr>Office Theme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>officegen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officegen</dc:creator>
  <cp:lastModifiedBy>김하율</cp:lastModifiedBy>
  <cp:revision>261</cp:revision>
  <dcterms:created xsi:type="dcterms:W3CDTF">2020-12-03T03:37:02Z</dcterms:created>
  <dcterms:modified xsi:type="dcterms:W3CDTF">2021-06-03T01:40:48Z</dcterms:modified>
</cp:coreProperties>
</file>